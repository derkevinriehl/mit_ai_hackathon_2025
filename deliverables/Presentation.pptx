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8" r:id="rId2"/>
    <p:sldId id="270" r:id="rId3"/>
    <p:sldId id="263" r:id="rId4"/>
    <p:sldId id="26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2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9B9B3-1D81-4150-A54C-4085A238B985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259FC-14D1-48B2-B0B3-4EC7838B27A7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0785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259FC-14D1-48B2-B0B3-4EC7838B27A7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52541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259FC-14D1-48B2-B0B3-4EC7838B27A7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42811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7259FC-14D1-48B2-B0B3-4EC7838B27A7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5557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32BF-5D38-4083-8124-3B64933B8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E2279-F3B9-45CF-9215-2A6CEC4D9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07F7A-A1E0-4F43-90ED-F98ABA8A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31221-29D3-4FC3-88DE-755B4147B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55394-C1C2-4874-9347-CD6DF286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603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9210-90AB-48EB-9C16-ACE615A6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B1604-CDAA-4140-90D8-F00C6BC1E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ACAFB-ECDF-436B-AC5D-89070A06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733C2-4056-4138-8D8E-78E3A2F5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3DD3B-3E7C-43F9-9311-D1EEDF14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3855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FA0C-8BB1-4A7B-80AB-7365CD98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753C2-DD6E-452E-86EC-A5C4AADEE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1A523-7BE6-4F89-BBC1-0B86B41F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A2838-E172-4BF7-B66D-3435BFD2D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48B46-BD60-4BEA-BDA6-0D75E81F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05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64E59-B034-4E6D-A490-3F1E47E0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9454B-2550-4FA7-A13C-306730D7B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E66DC-B095-46DF-B909-BBC13EF7C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F7FA3-FF6E-4486-9A3B-47750D6DB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E1B6A-8BC2-4DA6-BDB7-08631BBC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AFFFB-F11A-4046-8804-C93EE2C2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90543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378C-DB86-4BF4-8F35-EDEF70A23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3F7DA-A6BC-4B94-A7EB-1C967E3C6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46855-9071-475C-8173-7ECDDA70D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E9E9BA-5A95-498B-9B37-FAACE5371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ABAF3D-F17B-4C91-8DE0-7539927E1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C47D3-FCA3-424C-8538-16110EEE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1C0DA-A611-4866-BBA0-C6188BEE5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2B29BE-439B-437E-93AB-6A3222E3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80647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5CC3-143C-47C2-993B-9F1CBDB6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286E9-9643-4F91-AC6F-5841B9F9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E561B-3FBE-4186-87A5-CB0E99F80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D5309-35ED-4AAD-9CD9-3C1DF4F9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01601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C5692-CDE8-446C-9DB8-DE65C45BD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E73B3-6B6E-4DF5-B16C-B4232491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C1969-D455-4339-905B-50476DE8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0547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528F-C234-4792-ACB4-9BAB517C8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59819-5D43-41D4-8EA2-EA1DDC7C8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6DA96-EE12-488D-BD32-E2E56C251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ED9E5-33C5-45A5-B015-98CDCCD1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BF112-980F-4941-9B6B-5CC24CFE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C259A-53F4-437C-9737-C3E3EA77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19468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D2D8A-C292-47B2-9B19-A11D91A4A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D85AA3-7D38-4E2E-9EF0-F12D75D21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70BE9-96A9-4C78-B7C7-936C01D44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C83BE-5735-4B51-B38C-D6B46386C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B46D3-664F-4DA9-AE34-56A7B12B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114E8-7BBB-477C-A34E-B432522D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782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E688-1F22-4E15-8776-447D6E7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DFC6E-5D4B-4A9C-B20D-9E8930802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090EB-114A-4528-8E70-C0AE48162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C03C3-3661-468F-892F-C8548B71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C665F-E398-4BD4-AEDD-8D74AE80D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8545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D4485-7738-433A-8D63-E4FE4BE87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22081-B1BA-4C95-A71C-7D00EC2EF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8F3C7-92D1-4FCB-8B12-5AD92373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6DD45-6301-43B7-BE95-C53D789B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0B5-7156-41A1-94EA-5C98F612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3842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93344-34C9-4A22-986E-4D298E05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29864-E787-4DBA-94B4-FB541574B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462AE-1BBD-4F50-94C9-E10E4964B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54E24-EA96-4AD7-89AE-40EF54F67658}" type="datetimeFigureOut">
              <a:rPr lang="de-CH" smtClean="0"/>
              <a:t>03.05.2025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09054-466E-4762-B50C-929686921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142BE-16FC-4F12-BC8D-F063773E5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64CF0-262B-43D2-8B15-751655CF0EE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276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9.png"/><Relationship Id="rId21" Type="http://schemas.openxmlformats.org/officeDocument/2006/relationships/image" Target="../media/image25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26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20" Type="http://schemas.openxmlformats.org/officeDocument/2006/relationships/hyperlink" Target="https://www.google.com/imgres?q=report%20data%20icon&amp;imgurl=https%3A%2F%2Fcdn-icons-png.flaticon.com%2F512%2F6360%2F6360603.png&amp;imgrefurl=https%3A%2F%2Fwww.flaticon.com%2Ffree-icon%2Fdata-report_6360603&amp;docid=-0FSaj2tYJv1HM&amp;tbnid=e9Tin31VChDvDM&amp;vet=12ahUKEwjv5q-Bi4eNAxVIgf0HHU5-MBoQM3oECHEQAA..i&amp;w=512&amp;h=512&amp;hcb=2&amp;ved=2ahUKEwjv5q-Bi4eNAxVIgf0HHU5-MBoQM3oECHEQAA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oogle.com/imgres?q=excel%20logo&amp;imgurl=https%3A%2F%2Fupload.wikimedia.org%2Fwikipedia%2Fcommons%2Fthumb%2F3%2F34%2FMicrosoft_Office_Excel_%25282019%25E2%2580%2593present%2529.svg%2F826px-Microsoft_Office_Excel_%25282019%25E2%2580%2593present%2529.svg.png&amp;imgrefurl=https%3A%2F%2Fde.m.wikipedia.org%2Fwiki%2FDatei%3AMicrosoft_Office_Excel_(2019%25E2%2580%2593present).svg&amp;docid=0rXvXs4r2WkrqM&amp;tbnid=vVuo10AA2qKOLM&amp;vet=12ahUKEwiSt4uv34aNAxUQRP4FHQVtKMsQM3oECB4QAA..i&amp;w=826&amp;h=769&amp;hcb=2&amp;ved=2ahUKEwiSt4uv34aNAxUQRP4FHQVtKMsQM3oECB4QAA" TargetMode="External"/><Relationship Id="rId11" Type="http://schemas.openxmlformats.org/officeDocument/2006/relationships/image" Target="../media/image16.png"/><Relationship Id="rId24" Type="http://schemas.openxmlformats.org/officeDocument/2006/relationships/hyperlink" Target="https://www.google.com/imgres?q=openstreetmap%20logo&amp;imgurl=https%3A%2F%2Fupload.wikimedia.org%2Fwikipedia%2Fcommons%2Fthumb%2Fb%2Fb0%2FOpenstreetmap_logo.svg%2F2048px-Openstreetmap_logo.svg.png&amp;imgrefurl=https%3A%2F%2Fde.m.wikipedia.org%2Fwiki%2FDatei%3AOpenstreetmap_logo.svg&amp;docid=J_I9rF9MFvJS4M&amp;tbnid=dZ70Ha9jyBfn9M&amp;vet=12ahUKEwixj_nyjIeNAxWo9rsIHe49LWkQM3oECB4QAA..i&amp;w=2048&amp;h=2048&amp;hcb=2&amp;ved=2ahUKEwixj_nyjIeNAxWo9rsIHe49LWkQM3oECB4QAA" TargetMode="External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23" Type="http://schemas.openxmlformats.org/officeDocument/2006/relationships/image" Target="../media/image2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9.png"/><Relationship Id="rId21" Type="http://schemas.openxmlformats.org/officeDocument/2006/relationships/image" Target="../media/image25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26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20" Type="http://schemas.openxmlformats.org/officeDocument/2006/relationships/hyperlink" Target="https://www.google.com/imgres?q=report%20data%20icon&amp;imgurl=https%3A%2F%2Fcdn-icons-png.flaticon.com%2F512%2F6360%2F6360603.png&amp;imgrefurl=https%3A%2F%2Fwww.flaticon.com%2Ffree-icon%2Fdata-report_6360603&amp;docid=-0FSaj2tYJv1HM&amp;tbnid=e9Tin31VChDvDM&amp;vet=12ahUKEwjv5q-Bi4eNAxVIgf0HHU5-MBoQM3oECHEQAA..i&amp;w=512&amp;h=512&amp;hcb=2&amp;ved=2ahUKEwjv5q-Bi4eNAxVIgf0HHU5-MBoQM3oECHEQAA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oogle.com/imgres?q=excel%20logo&amp;imgurl=https%3A%2F%2Fupload.wikimedia.org%2Fwikipedia%2Fcommons%2Fthumb%2F3%2F34%2FMicrosoft_Office_Excel_%25282019%25E2%2580%2593present%2529.svg%2F826px-Microsoft_Office_Excel_%25282019%25E2%2580%2593present%2529.svg.png&amp;imgrefurl=https%3A%2F%2Fde.m.wikipedia.org%2Fwiki%2FDatei%3AMicrosoft_Office_Excel_(2019%25E2%2580%2593present).svg&amp;docid=0rXvXs4r2WkrqM&amp;tbnid=vVuo10AA2qKOLM&amp;vet=12ahUKEwiSt4uv34aNAxUQRP4FHQVtKMsQM3oECB4QAA..i&amp;w=826&amp;h=769&amp;hcb=2&amp;ved=2ahUKEwiSt4uv34aNAxUQRP4FHQVtKMsQM3oECB4QAA" TargetMode="External"/><Relationship Id="rId11" Type="http://schemas.openxmlformats.org/officeDocument/2006/relationships/image" Target="../media/image16.png"/><Relationship Id="rId24" Type="http://schemas.openxmlformats.org/officeDocument/2006/relationships/hyperlink" Target="https://www.google.com/imgres?q=openstreetmap%20logo&amp;imgurl=https%3A%2F%2Fupload.wikimedia.org%2Fwikipedia%2Fcommons%2Fthumb%2Fb%2Fb0%2FOpenstreetmap_logo.svg%2F2048px-Openstreetmap_logo.svg.png&amp;imgrefurl=https%3A%2F%2Fde.m.wikipedia.org%2Fwiki%2FDatei%3AOpenstreetmap_logo.svg&amp;docid=J_I9rF9MFvJS4M&amp;tbnid=dZ70Ha9jyBfn9M&amp;vet=12ahUKEwixj_nyjIeNAxWo9rsIHe49LWkQM3oECB4QAA..i&amp;w=2048&amp;h=2048&amp;hcb=2&amp;ved=2ahUKEwixj_nyjIeNAxWo9rsIHe49LWkQM3oECB4QAA" TargetMode="External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23" Type="http://schemas.openxmlformats.org/officeDocument/2006/relationships/image" Target="../media/image2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7AFDB8-2306-455D-8C8B-87B44330C67B}"/>
              </a:ext>
            </a:extLst>
          </p:cNvPr>
          <p:cNvSpPr/>
          <p:nvPr/>
        </p:nvSpPr>
        <p:spPr>
          <a:xfrm>
            <a:off x="12872" y="0"/>
            <a:ext cx="12179127" cy="6858000"/>
          </a:xfrm>
          <a:prstGeom prst="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FFFF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FE4FD1BF-8831-496E-B5AE-8E686BB32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648" y="3967035"/>
            <a:ext cx="11137985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 err="1">
                <a:latin typeface="Abadi" panose="020B0604020104020204" pitchFamily="34" charset="0"/>
              </a:rPr>
              <a:t>Mr</a:t>
            </a:r>
            <a:r>
              <a:rPr lang="en-US" sz="3600" b="1" dirty="0">
                <a:latin typeface="Abadi" panose="020B0604020104020204" pitchFamily="34" charset="0"/>
              </a:rPr>
              <a:t> Sunshine India – Mapping India’s Solar Infrastructure </a:t>
            </a:r>
            <a:endParaRPr kumimoji="0" lang="de-CH" altLang="de-DE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Agentic</a:t>
            </a:r>
            <a:r>
              <a:rPr kumimoji="0" lang="de-CH" altLang="de-D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de-CH" altLang="de-DE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kumimoji="0" lang="de-CH" altLang="de-DE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Pipeline</a:t>
            </a:r>
            <a:endParaRPr kumimoji="0" lang="de-CH" altLang="de-DE" sz="5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E6A5D5-AE66-4708-89C6-6BC47F516C5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2603" y="5729114"/>
            <a:ext cx="1019397" cy="10193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62692-29AF-4603-83F5-61592EBC3C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853" y="0"/>
            <a:ext cx="3871164" cy="3871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A91A83-FC37-4C4B-A622-7BFD5234F5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455" y="6238812"/>
            <a:ext cx="1993490" cy="3325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40AF3E-B3DD-4EF0-99DE-05BA853C24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406" y="6149510"/>
            <a:ext cx="581235" cy="387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1895F7-490A-4885-ABCF-47ACC42011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772" y="6149510"/>
            <a:ext cx="387976" cy="3879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3519D8-35CA-411B-B087-FFC1B734402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26" t="18722" r="27486" b="12338"/>
          <a:stretch/>
        </p:blipFill>
        <p:spPr>
          <a:xfrm>
            <a:off x="7992138" y="6075704"/>
            <a:ext cx="842477" cy="6231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046B2E-75FB-4869-BF97-830349BC23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878" y="6075704"/>
            <a:ext cx="1046583" cy="464109"/>
          </a:xfrm>
          <a:prstGeom prst="rect">
            <a:avLst/>
          </a:prstGeom>
        </p:spPr>
      </p:pic>
      <p:sp>
        <p:nvSpPr>
          <p:cNvPr id="128" name="Rectangle 1">
            <a:extLst>
              <a:ext uri="{FF2B5EF4-FFF2-40B4-BE49-F238E27FC236}">
                <a16:creationId xmlns:a16="http://schemas.microsoft.com/office/drawing/2014/main" id="{ABFF5B7A-B6BE-4D98-A775-95141D49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931" y="5969508"/>
            <a:ext cx="2648482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CH" b="1" dirty="0">
                <a:latin typeface="Abadi" panose="020B0604020104020204" pitchFamily="34" charset="0"/>
              </a:rPr>
              <a:t>Grindelwald AI</a:t>
            </a:r>
            <a:br>
              <a:rPr lang="de-CH" sz="1400" dirty="0">
                <a:latin typeface="Abadi" panose="020B0604020104020204" pitchFamily="34" charset="0"/>
              </a:rPr>
            </a:br>
            <a:r>
              <a:rPr lang="de-CH" sz="1400" dirty="0">
                <a:latin typeface="Abadi" panose="020B0604020104020204" pitchFamily="34" charset="0"/>
              </a:rPr>
              <a:t>(Kevin Riehl, Shaimaa El </a:t>
            </a:r>
            <a:r>
              <a:rPr lang="de-CH" sz="1400" dirty="0" err="1">
                <a:latin typeface="Abadi" panose="020B0604020104020204" pitchFamily="34" charset="0"/>
              </a:rPr>
              <a:t>Baklish</a:t>
            </a:r>
            <a:r>
              <a:rPr lang="de-CH" sz="1400" dirty="0">
                <a:latin typeface="Abadi" panose="020B0604020104020204" pitchFamily="34" charset="0"/>
              </a:rPr>
              <a:t>)</a:t>
            </a:r>
            <a:endParaRPr kumimoji="0" lang="de-CH" altLang="de-DE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5A55D4-1DE7-4B90-908A-F72D78D3D7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94" y="5979838"/>
            <a:ext cx="551635" cy="63044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F767BB-5331-448E-9ECB-86608C5991BE}"/>
              </a:ext>
            </a:extLst>
          </p:cNvPr>
          <p:cNvCxnSpPr/>
          <p:nvPr/>
        </p:nvCxnSpPr>
        <p:spPr>
          <a:xfrm>
            <a:off x="765011" y="5422900"/>
            <a:ext cx="106903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865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7AFDB8-2306-455D-8C8B-87B44330C67B}"/>
              </a:ext>
            </a:extLst>
          </p:cNvPr>
          <p:cNvSpPr/>
          <p:nvPr/>
        </p:nvSpPr>
        <p:spPr>
          <a:xfrm>
            <a:off x="12872" y="-158610"/>
            <a:ext cx="12179127" cy="1310009"/>
          </a:xfrm>
          <a:prstGeom prst="round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FFFF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FE4FD1BF-8831-496E-B5AE-8E686BB32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8511" y="99600"/>
            <a:ext cx="8872942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err="1">
                <a:latin typeface="Abadi" panose="020B0604020104020204" pitchFamily="34" charset="0"/>
              </a:rPr>
              <a:t>Mr</a:t>
            </a:r>
            <a:r>
              <a:rPr lang="en-US" sz="2800" dirty="0">
                <a:latin typeface="Abadi" panose="020B0604020104020204" pitchFamily="34" charset="0"/>
              </a:rPr>
              <a:t> Sunshine India – Mapping India’s Solar Infrastructure </a:t>
            </a:r>
            <a:endParaRPr kumimoji="0" lang="de-CH" altLang="de-DE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Agentic</a:t>
            </a:r>
            <a:r>
              <a:rPr kumimoji="0" lang="de-CH" altLang="de-DE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de-CH" altLang="de-DE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kumimoji="0" lang="de-CH" altLang="de-DE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Pipeline</a:t>
            </a:r>
            <a:endParaRPr kumimoji="0" lang="de-CH" altLang="de-DE" sz="4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5766659-1230-4C0F-B079-C6ADF3A748CE}"/>
              </a:ext>
            </a:extLst>
          </p:cNvPr>
          <p:cNvSpPr txBox="1"/>
          <p:nvPr/>
        </p:nvSpPr>
        <p:spPr>
          <a:xfrm>
            <a:off x="836240" y="6472582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badi" panose="020B0604020104020204" pitchFamily="34" charset="0"/>
                <a:cs typeface="Arial" panose="020B0604020202020204" pitchFamily="34" charset="0"/>
              </a:rPr>
              <a:t>Online Sources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D551BA1-E3A9-4EE4-AC61-0679E34D1A01}"/>
              </a:ext>
            </a:extLst>
          </p:cNvPr>
          <p:cNvSpPr/>
          <p:nvPr/>
        </p:nvSpPr>
        <p:spPr>
          <a:xfrm>
            <a:off x="409575" y="3322546"/>
            <a:ext cx="2753245" cy="31661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4FE3009-B2DE-430A-B416-2CD4394B0B53}"/>
              </a:ext>
            </a:extLst>
          </p:cNvPr>
          <p:cNvSpPr/>
          <p:nvPr/>
        </p:nvSpPr>
        <p:spPr>
          <a:xfrm>
            <a:off x="3571355" y="3322546"/>
            <a:ext cx="2029345" cy="31661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3F4BA95-3A0D-4352-96D1-F1C63DB49896}"/>
              </a:ext>
            </a:extLst>
          </p:cNvPr>
          <p:cNvSpPr txBox="1"/>
          <p:nvPr/>
        </p:nvSpPr>
        <p:spPr>
          <a:xfrm>
            <a:off x="3674866" y="6497982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badi" panose="020B0604020104020204" pitchFamily="34" charset="0"/>
                <a:cs typeface="Arial" panose="020B0604020202020204" pitchFamily="34" charset="0"/>
              </a:rPr>
              <a:t>Raw Data Lake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E34F6D2-7060-4964-BCD0-CE570FF59896}"/>
              </a:ext>
            </a:extLst>
          </p:cNvPr>
          <p:cNvSpPr txBox="1"/>
          <p:nvPr/>
        </p:nvSpPr>
        <p:spPr>
          <a:xfrm rot="16200000">
            <a:off x="-403113" y="4648101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badi" panose="020B0604020104020204" pitchFamily="34" charset="0"/>
                <a:cs typeface="Arial" panose="020B0604020202020204" pitchFamily="34" charset="0"/>
              </a:rPr>
              <a:t>Data Flow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C8C3050-A14F-46BE-AB7E-06C6BD9806DA}"/>
              </a:ext>
            </a:extLst>
          </p:cNvPr>
          <p:cNvSpPr txBox="1"/>
          <p:nvPr/>
        </p:nvSpPr>
        <p:spPr>
          <a:xfrm rot="16200000">
            <a:off x="-528782" y="2187050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badi" panose="020B0604020104020204" pitchFamily="34" charset="0"/>
                <a:cs typeface="Arial" panose="020B0604020202020204" pitchFamily="34" charset="0"/>
              </a:rPr>
              <a:t>Technologies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DDA1F39-A991-4CDA-9604-46F2AA76C474}"/>
              </a:ext>
            </a:extLst>
          </p:cNvPr>
          <p:cNvSpPr/>
          <p:nvPr/>
        </p:nvSpPr>
        <p:spPr>
          <a:xfrm>
            <a:off x="1919718" y="1534080"/>
            <a:ext cx="2661807" cy="154356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0730BCD5-BAD1-4F42-B25E-E21D9123E19D}"/>
              </a:ext>
            </a:extLst>
          </p:cNvPr>
          <p:cNvSpPr/>
          <p:nvPr/>
        </p:nvSpPr>
        <p:spPr>
          <a:xfrm rot="5400000">
            <a:off x="3203748" y="4890807"/>
            <a:ext cx="374839" cy="18547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Isosceles Triangle 99">
            <a:extLst>
              <a:ext uri="{FF2B5EF4-FFF2-40B4-BE49-F238E27FC236}">
                <a16:creationId xmlns:a16="http://schemas.microsoft.com/office/drawing/2014/main" id="{5C45AAB5-9B01-4985-98BE-E998E9246D6C}"/>
              </a:ext>
            </a:extLst>
          </p:cNvPr>
          <p:cNvSpPr/>
          <p:nvPr/>
        </p:nvSpPr>
        <p:spPr>
          <a:xfrm rot="5400000">
            <a:off x="5626541" y="4890807"/>
            <a:ext cx="374839" cy="18547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6235EDB-7825-417C-88C6-618C161AFB20}"/>
              </a:ext>
            </a:extLst>
          </p:cNvPr>
          <p:cNvSpPr/>
          <p:nvPr/>
        </p:nvSpPr>
        <p:spPr>
          <a:xfrm>
            <a:off x="5988027" y="3322544"/>
            <a:ext cx="2110388" cy="31661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EB079F-D70B-470A-A6FB-BB0B063707A6}"/>
              </a:ext>
            </a:extLst>
          </p:cNvPr>
          <p:cNvSpPr txBox="1"/>
          <p:nvPr/>
        </p:nvSpPr>
        <p:spPr>
          <a:xfrm>
            <a:off x="6074659" y="649798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 err="1">
                <a:latin typeface="Abadi" panose="020B0604020104020204" pitchFamily="34" charset="0"/>
                <a:cs typeface="Arial" panose="020B0604020202020204" pitchFamily="34" charset="0"/>
              </a:rPr>
              <a:t>Processed</a:t>
            </a:r>
            <a:r>
              <a:rPr lang="de-CH" b="1" dirty="0">
                <a:latin typeface="Abadi" panose="020B0604020104020204" pitchFamily="34" charset="0"/>
                <a:cs typeface="Arial" panose="020B0604020202020204" pitchFamily="34" charset="0"/>
              </a:rPr>
              <a:t> Data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0BE43EB-2636-4C57-B38C-4174AC2606D1}"/>
              </a:ext>
            </a:extLst>
          </p:cNvPr>
          <p:cNvSpPr/>
          <p:nvPr/>
        </p:nvSpPr>
        <p:spPr>
          <a:xfrm>
            <a:off x="8464527" y="5652970"/>
            <a:ext cx="3317898" cy="84501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AEBDA37-0807-4BD0-84E4-46EC9848E639}"/>
              </a:ext>
            </a:extLst>
          </p:cNvPr>
          <p:cNvSpPr txBox="1"/>
          <p:nvPr/>
        </p:nvSpPr>
        <p:spPr>
          <a:xfrm>
            <a:off x="9581276" y="649798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 err="1">
                <a:latin typeface="Abadi" panose="020B0604020104020204" pitchFamily="34" charset="0"/>
                <a:cs typeface="Arial" panose="020B0604020202020204" pitchFamily="34" charset="0"/>
              </a:rPr>
              <a:t>DataBase</a:t>
            </a:r>
            <a:endParaRPr lang="de-CH" b="1" dirty="0"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Isosceles Triangle 104">
            <a:extLst>
              <a:ext uri="{FF2B5EF4-FFF2-40B4-BE49-F238E27FC236}">
                <a16:creationId xmlns:a16="http://schemas.microsoft.com/office/drawing/2014/main" id="{2D70F2D1-F1A5-4067-8545-FB0032287F27}"/>
              </a:ext>
            </a:extLst>
          </p:cNvPr>
          <p:cNvSpPr/>
          <p:nvPr/>
        </p:nvSpPr>
        <p:spPr>
          <a:xfrm rot="5400000">
            <a:off x="8100914" y="6117792"/>
            <a:ext cx="374839" cy="18547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F9EE43D5-7C35-4781-8B85-72D9EB8C4955}"/>
              </a:ext>
            </a:extLst>
          </p:cNvPr>
          <p:cNvSpPr/>
          <p:nvPr/>
        </p:nvSpPr>
        <p:spPr>
          <a:xfrm>
            <a:off x="9936055" y="5321052"/>
            <a:ext cx="374839" cy="18547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5BF9900-B0B9-4A50-8011-9F300E3C4DEC}"/>
              </a:ext>
            </a:extLst>
          </p:cNvPr>
          <p:cNvSpPr/>
          <p:nvPr/>
        </p:nvSpPr>
        <p:spPr>
          <a:xfrm>
            <a:off x="8446042" y="3339185"/>
            <a:ext cx="3317898" cy="19235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592F9AC-79F5-4B51-B2D6-A46532E82AF5}"/>
              </a:ext>
            </a:extLst>
          </p:cNvPr>
          <p:cNvSpPr txBox="1"/>
          <p:nvPr/>
        </p:nvSpPr>
        <p:spPr>
          <a:xfrm>
            <a:off x="8446042" y="3280852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/ UI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EEA53A9E-D47C-4A86-9DDA-09BE4F3F4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323" y="3624038"/>
            <a:ext cx="2653335" cy="1448608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A6D5E4EF-677C-471E-AD18-55CC431CA2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1" r="3944"/>
          <a:stretch/>
        </p:blipFill>
        <p:spPr>
          <a:xfrm>
            <a:off x="2090268" y="2406601"/>
            <a:ext cx="942018" cy="599605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98CEC46D-880C-4B28-9FD1-53DEBA7DC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450" y="1624994"/>
            <a:ext cx="523112" cy="523112"/>
          </a:xfrm>
          <a:prstGeom prst="rect">
            <a:avLst/>
          </a:prstGeom>
        </p:spPr>
      </p:pic>
      <p:pic>
        <p:nvPicPr>
          <p:cNvPr id="112" name="Picture 2" descr="Datei:Microsoft Office Excel (2019–present).svg – Wikipedia">
            <a:hlinkClick r:id="rId6"/>
            <a:extLst>
              <a:ext uri="{FF2B5EF4-FFF2-40B4-BE49-F238E27FC236}">
                <a16:creationId xmlns:a16="http://schemas.microsoft.com/office/drawing/2014/main" id="{1BFFDE6A-FA14-4E6D-B81D-BAF421E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114" y="1624994"/>
            <a:ext cx="439081" cy="408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1A3CF814-E1B7-45E6-8C0A-CDC31CD618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0461" y="1645869"/>
            <a:ext cx="1169125" cy="172053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065FF160-545E-4C99-A1E2-10C7DC5421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827" y="2322019"/>
            <a:ext cx="580599" cy="2488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919CF74C-1097-4C2A-B29E-709FFCFC67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848" y="2478554"/>
            <a:ext cx="527652" cy="527652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270CE816-632F-424E-B5B3-9778ECAD15F5}"/>
              </a:ext>
            </a:extLst>
          </p:cNvPr>
          <p:cNvSpPr txBox="1"/>
          <p:nvPr/>
        </p:nvSpPr>
        <p:spPr>
          <a:xfrm>
            <a:off x="2239095" y="1693189"/>
            <a:ext cx="15863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>
                <a:latin typeface="Arial" panose="020B0604020202020204" pitchFamily="34" charset="0"/>
                <a:cs typeface="Arial" panose="020B0604020202020204" pitchFamily="34" charset="0"/>
              </a:rPr>
              <a:t>Python – 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agentic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scrapers</a:t>
            </a:r>
            <a:endParaRPr lang="de-CH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C27A8A7-8858-4B19-8916-30E00A0B1183}"/>
              </a:ext>
            </a:extLst>
          </p:cNvPr>
          <p:cNvSpPr txBox="1"/>
          <p:nvPr/>
        </p:nvSpPr>
        <p:spPr>
          <a:xfrm>
            <a:off x="2983257" y="2335160"/>
            <a:ext cx="158638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 err="1">
                <a:latin typeface="Arial" panose="020B0604020202020204" pitchFamily="34" charset="0"/>
                <a:cs typeface="Arial" panose="020B0604020202020204" pitchFamily="34" charset="0"/>
              </a:rPr>
              <a:t>Selenium</a:t>
            </a:r>
            <a:r>
              <a:rPr lang="de-CH" sz="1050" b="1" dirty="0">
                <a:latin typeface="Arial" panose="020B0604020202020204" pitchFamily="34" charset="0"/>
                <a:cs typeface="Arial" panose="020B0604020202020204" pitchFamily="34" charset="0"/>
              </a:rPr>
              <a:t> &amp; Chrome – </a:t>
            </a:r>
            <a:br>
              <a:rPr lang="de-CH" sz="105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browser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automation</a:t>
            </a:r>
            <a:endParaRPr lang="de-CH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9DA22AD-1410-4534-9852-1B7F351C123A}"/>
              </a:ext>
            </a:extLst>
          </p:cNvPr>
          <p:cNvSpPr/>
          <p:nvPr/>
        </p:nvSpPr>
        <p:spPr>
          <a:xfrm>
            <a:off x="4938735" y="1520050"/>
            <a:ext cx="2356746" cy="154356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0E17B4B-ACEF-41C7-A2FA-2E56B76F732C}"/>
              </a:ext>
            </a:extLst>
          </p:cNvPr>
          <p:cNvSpPr txBox="1"/>
          <p:nvPr/>
        </p:nvSpPr>
        <p:spPr>
          <a:xfrm>
            <a:off x="4957026" y="1789734"/>
            <a:ext cx="1706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OCR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extraction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endParaRPr lang="de-CH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CD71105-3D4D-48C9-8FDF-35F0F67F25CC}"/>
              </a:ext>
            </a:extLst>
          </p:cNvPr>
          <p:cNvSpPr txBox="1"/>
          <p:nvPr/>
        </p:nvSpPr>
        <p:spPr>
          <a:xfrm>
            <a:off x="5436478" y="2628433"/>
            <a:ext cx="170680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coordination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location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retrieval</a:t>
            </a:r>
            <a:endParaRPr lang="de-CH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5222CED-83CF-407C-96CE-CF5D10917A5A}"/>
              </a:ext>
            </a:extLst>
          </p:cNvPr>
          <p:cNvSpPr txBox="1"/>
          <p:nvPr/>
        </p:nvSpPr>
        <p:spPr>
          <a:xfrm>
            <a:off x="5976712" y="2093218"/>
            <a:ext cx="11428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HTML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parsing</a:t>
            </a:r>
            <a:endParaRPr lang="de-CH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" name="Picture 121">
            <a:extLst>
              <a:ext uri="{FF2B5EF4-FFF2-40B4-BE49-F238E27FC236}">
                <a16:creationId xmlns:a16="http://schemas.microsoft.com/office/drawing/2014/main" id="{4634E84D-185C-41DB-80D1-13B450E5E1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177" y="1565680"/>
            <a:ext cx="812511" cy="475556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D5328B2C-982A-4ADA-81AF-E9844203A1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816" y="2056936"/>
            <a:ext cx="929978" cy="318186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9B2A11A0-0D63-432C-A2DC-76F018453AB7}"/>
              </a:ext>
            </a:extLst>
          </p:cNvPr>
          <p:cNvSpPr/>
          <p:nvPr/>
        </p:nvSpPr>
        <p:spPr>
          <a:xfrm>
            <a:off x="8446042" y="1542233"/>
            <a:ext cx="3336383" cy="154356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2643F0DD-EC79-4CC1-B559-6F7AEA4ED6E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066" y="2447242"/>
            <a:ext cx="381266" cy="393022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227A1194-907D-47B5-B7A7-141AC38F71E4}"/>
              </a:ext>
            </a:extLst>
          </p:cNvPr>
          <p:cNvSpPr txBox="1"/>
          <p:nvPr/>
        </p:nvSpPr>
        <p:spPr>
          <a:xfrm>
            <a:off x="9983555" y="2441027"/>
            <a:ext cx="12854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&amp; Fast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de-CH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45771C1-4C05-45D2-BB9F-E1EA238483B2}"/>
              </a:ext>
            </a:extLst>
          </p:cNvPr>
          <p:cNvSpPr txBox="1"/>
          <p:nvPr/>
        </p:nvSpPr>
        <p:spPr>
          <a:xfrm>
            <a:off x="9568066" y="1694706"/>
            <a:ext cx="136031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Python-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front end in Browser</a:t>
            </a: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78A959E5-447D-4867-8F4C-D0BE69FCD68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7312" y="5920979"/>
            <a:ext cx="432324" cy="432324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D3C39FC0-AF29-4691-8525-67D9E4D46ADB}"/>
              </a:ext>
            </a:extLst>
          </p:cNvPr>
          <p:cNvSpPr txBox="1"/>
          <p:nvPr/>
        </p:nvSpPr>
        <p:spPr>
          <a:xfrm>
            <a:off x="699216" y="3565803"/>
            <a:ext cx="2094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Government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Public Tender Information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54860CE-E445-4F8C-B2DA-2A86057F0A07}"/>
              </a:ext>
            </a:extLst>
          </p:cNvPr>
          <p:cNvSpPr txBox="1"/>
          <p:nvPr/>
        </p:nvSpPr>
        <p:spPr>
          <a:xfrm>
            <a:off x="690415" y="4099152"/>
            <a:ext cx="12362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Companies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Azure Power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Renew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Tata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Power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9947723-322E-4BCE-9357-4B467BA674DA}"/>
              </a:ext>
            </a:extLst>
          </p:cNvPr>
          <p:cNvSpPr txBox="1"/>
          <p:nvPr/>
        </p:nvSpPr>
        <p:spPr>
          <a:xfrm>
            <a:off x="701407" y="5039951"/>
            <a:ext cx="2188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International </a:t>
            </a:r>
            <a:r>
              <a:rPr lang="de-CH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Organisations</a:t>
            </a:r>
            <a:endParaRPr lang="de-CH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StatisticTimes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INCED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D428D33-D97A-46A5-8F85-8788ABA284E5}"/>
              </a:ext>
            </a:extLst>
          </p:cNvPr>
          <p:cNvSpPr txBox="1"/>
          <p:nvPr/>
        </p:nvSpPr>
        <p:spPr>
          <a:xfrm>
            <a:off x="699216" y="5752334"/>
            <a:ext cx="1773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Academia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Geo-Data (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UCDavis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67C09F9-1931-474C-90F3-D55DC04FCC9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864" y="4327925"/>
            <a:ext cx="157760" cy="15776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FBB5BEC-B688-47C0-A816-8DB18BB7FB7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87" y="5992590"/>
            <a:ext cx="173536" cy="173536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E9DDA6D5-CF91-4014-95FA-FCA24825F5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874" y="4549979"/>
            <a:ext cx="157760" cy="157760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7970DF47-D2EB-4AD6-87C1-349867CAD21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844" y="4715687"/>
            <a:ext cx="157760" cy="157760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838556BF-FA15-4FFE-A52C-3A4F7927EAF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529" y="5292883"/>
            <a:ext cx="157760" cy="157760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28295171-40C3-4F03-BD75-5B7F152BE92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468" y="3820788"/>
            <a:ext cx="157760" cy="15776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6744158-9FB6-4994-A4EE-E78F8130B0B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925" y="5481297"/>
            <a:ext cx="132099" cy="13209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2ACC7A-7C9E-457C-8F12-D2A223F8A4B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737" y="3862017"/>
            <a:ext cx="307431" cy="307431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429CF145-9D7C-470A-BD31-782D662BFAC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737" y="4403390"/>
            <a:ext cx="307431" cy="307431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A4A0793B-2801-4D38-BDAC-41B1F3C0EE2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737" y="5015527"/>
            <a:ext cx="307431" cy="307431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967FF6C8-224C-43E4-87A2-D74897DADAD6}"/>
              </a:ext>
            </a:extLst>
          </p:cNvPr>
          <p:cNvSpPr txBox="1"/>
          <p:nvPr/>
        </p:nvSpPr>
        <p:spPr>
          <a:xfrm>
            <a:off x="6439820" y="3884286"/>
            <a:ext cx="108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Project Data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2E42646-EBB1-4DB1-A1F0-38426B2FA8D3}"/>
              </a:ext>
            </a:extLst>
          </p:cNvPr>
          <p:cNvSpPr txBox="1"/>
          <p:nvPr/>
        </p:nvSpPr>
        <p:spPr>
          <a:xfrm>
            <a:off x="6452745" y="4348342"/>
            <a:ext cx="143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National </a:t>
            </a:r>
            <a:r>
              <a:rPr lang="de-CH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30DDE08-E244-4D4E-ABEE-F518C1AE981F}"/>
              </a:ext>
            </a:extLst>
          </p:cNvPr>
          <p:cNvSpPr txBox="1"/>
          <p:nvPr/>
        </p:nvSpPr>
        <p:spPr>
          <a:xfrm>
            <a:off x="6439820" y="5027953"/>
            <a:ext cx="1061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Tender Data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046FDFB0-39F2-438C-9726-6A222B7D292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737" y="5659293"/>
            <a:ext cx="270676" cy="270676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34ECCDB9-2F9F-42E8-9255-06BD91B9A018}"/>
              </a:ext>
            </a:extLst>
          </p:cNvPr>
          <p:cNvSpPr txBox="1"/>
          <p:nvPr/>
        </p:nvSpPr>
        <p:spPr>
          <a:xfrm>
            <a:off x="6439820" y="5652970"/>
            <a:ext cx="1439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Topography</a:t>
            </a:r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</p:txBody>
      </p:sp>
      <p:pic>
        <p:nvPicPr>
          <p:cNvPr id="162" name="Picture 161">
            <a:extLst>
              <a:ext uri="{FF2B5EF4-FFF2-40B4-BE49-F238E27FC236}">
                <a16:creationId xmlns:a16="http://schemas.microsoft.com/office/drawing/2014/main" id="{0895A18C-D5A3-4EB4-A017-D7DEA7BFFDB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108" y="3847250"/>
            <a:ext cx="307431" cy="307431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9669B2E2-62F5-4BAA-A19D-3A5E8D2EC60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764" y="3738187"/>
            <a:ext cx="307431" cy="307431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792BB05C-AA20-4358-8D83-4A26B1B7CC8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333" y="4375325"/>
            <a:ext cx="307431" cy="307431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8BF4042B-6C9F-4FFF-9CA0-7CF0337CE23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030" y="4903072"/>
            <a:ext cx="307431" cy="307431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6F69D1F2-B9A5-4F33-BE26-A43FAE78534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39" y="5245781"/>
            <a:ext cx="307431" cy="307431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BBBEEE6C-3FED-42ED-9B23-2145B7990B9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019" y="5869393"/>
            <a:ext cx="307431" cy="307431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7200649E-C4C8-4B1E-96B9-F4CA99B7EDB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509" y="5762089"/>
            <a:ext cx="307431" cy="307431"/>
          </a:xfrm>
          <a:prstGeom prst="rect">
            <a:avLst/>
          </a:prstGeom>
        </p:spPr>
      </p:pic>
      <p:pic>
        <p:nvPicPr>
          <p:cNvPr id="169" name="Picture 168">
            <a:extLst>
              <a:ext uri="{FF2B5EF4-FFF2-40B4-BE49-F238E27FC236}">
                <a16:creationId xmlns:a16="http://schemas.microsoft.com/office/drawing/2014/main" id="{EC56A1F9-7E80-4FB4-BFDC-3041D590E8E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93" y="5413788"/>
            <a:ext cx="307431" cy="307431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9C3C1BEC-5CE6-4E82-A634-73721CA95E4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161" y="5971384"/>
            <a:ext cx="307431" cy="307431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C31C29BC-20EE-4BD6-AE19-EDE2B52A86D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15" y="4825855"/>
            <a:ext cx="307431" cy="307431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F572E25A-8F83-47C1-B4BE-B1E03C4CC26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008" y="4120404"/>
            <a:ext cx="307431" cy="307431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0E7FA00A-6A19-4BD6-8928-5EFCB3F4EC1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618" y="3526972"/>
            <a:ext cx="257424" cy="257424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5C6D44B0-8DAB-4471-ABB6-457B89C9ACA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228" y="4169448"/>
            <a:ext cx="257424" cy="257424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7696AF80-30BF-4E00-B5F4-71FDD486768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584" y="4832767"/>
            <a:ext cx="257424" cy="257424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BE1006EE-B4C6-4CF3-82AA-6E57F1B92AB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235" y="5504665"/>
            <a:ext cx="257424" cy="257424"/>
          </a:xfrm>
          <a:prstGeom prst="rect">
            <a:avLst/>
          </a:prstGeom>
        </p:spPr>
      </p:pic>
      <p:pic>
        <p:nvPicPr>
          <p:cNvPr id="1028" name="Picture 4" descr="Data report - Free business icons">
            <a:hlinkClick r:id="rId20"/>
            <a:extLst>
              <a:ext uri="{FF2B5EF4-FFF2-40B4-BE49-F238E27FC236}">
                <a16:creationId xmlns:a16="http://schemas.microsoft.com/office/drawing/2014/main" id="{B4A2C9AB-90CD-4BA7-875F-AA385E8F4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427" y="3483118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 descr="Data report - Free business icons">
            <a:hlinkClick r:id="rId20"/>
            <a:extLst>
              <a:ext uri="{FF2B5EF4-FFF2-40B4-BE49-F238E27FC236}">
                <a16:creationId xmlns:a16="http://schemas.microsoft.com/office/drawing/2014/main" id="{F7A868B0-C462-427A-8811-BA1ACE940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322" y="4598399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 descr="Data report - Free business icons">
            <a:hlinkClick r:id="rId20"/>
            <a:extLst>
              <a:ext uri="{FF2B5EF4-FFF2-40B4-BE49-F238E27FC236}">
                <a16:creationId xmlns:a16="http://schemas.microsoft.com/office/drawing/2014/main" id="{E0759C9A-A934-4268-AB4A-6A745C763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798" y="5533593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6A5D5-AE66-4708-89C6-6BC47F516C5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448" y="1414"/>
            <a:ext cx="1019397" cy="10193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62692-29AF-4603-83F5-61592EBC3C7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00" y="57752"/>
            <a:ext cx="926725" cy="926725"/>
          </a:xfrm>
          <a:prstGeom prst="rect">
            <a:avLst/>
          </a:prstGeom>
        </p:spPr>
      </p:pic>
      <p:pic>
        <p:nvPicPr>
          <p:cNvPr id="1026" name="Picture 2" descr="Datei:Openstreetmap logo.svg – Wikipedia">
            <a:hlinkClick r:id="rId24"/>
            <a:extLst>
              <a:ext uri="{FF2B5EF4-FFF2-40B4-BE49-F238E27FC236}">
                <a16:creationId xmlns:a16="http://schemas.microsoft.com/office/drawing/2014/main" id="{F9B548C5-88FB-4FF5-82F6-D693809FB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192" y="2648913"/>
            <a:ext cx="385459" cy="38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75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4" grpId="0" animBg="1"/>
      <p:bldP spid="95" grpId="0" animBg="1"/>
      <p:bldP spid="96" grpId="0"/>
      <p:bldP spid="97" grpId="0"/>
      <p:bldP spid="98" grpId="0"/>
      <p:bldP spid="99" grpId="0" animBg="1"/>
      <p:bldP spid="26" grpId="0" animBg="1"/>
      <p:bldP spid="100" grpId="0" animBg="1"/>
      <p:bldP spid="101" grpId="0" animBg="1"/>
      <p:bldP spid="102" grpId="0"/>
      <p:bldP spid="103" grpId="0" animBg="1"/>
      <p:bldP spid="104" grpId="0"/>
      <p:bldP spid="105" grpId="0" animBg="1"/>
      <p:bldP spid="106" grpId="0" animBg="1"/>
      <p:bldP spid="107" grpId="0" animBg="1"/>
      <p:bldP spid="108" grpId="0"/>
      <p:bldP spid="116" grpId="0"/>
      <p:bldP spid="117" grpId="0"/>
      <p:bldP spid="118" grpId="0" animBg="1"/>
      <p:bldP spid="119" grpId="0"/>
      <p:bldP spid="120" grpId="0"/>
      <p:bldP spid="121" grpId="0"/>
      <p:bldP spid="124" grpId="0" animBg="1"/>
      <p:bldP spid="126" grpId="0"/>
      <p:bldP spid="127" grpId="0"/>
      <p:bldP spid="131" grpId="0"/>
      <p:bldP spid="144" grpId="0"/>
      <p:bldP spid="145" grpId="0"/>
      <p:bldP spid="146" grpId="0"/>
      <p:bldP spid="156" grpId="0"/>
      <p:bldP spid="157" grpId="0"/>
      <p:bldP spid="158" grpId="0"/>
      <p:bldP spid="15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3D6B3A-1E47-4A30-8332-F249295047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84F5A7-AB1C-4142-9533-07AF62B0F607}"/>
              </a:ext>
            </a:extLst>
          </p:cNvPr>
          <p:cNvSpPr txBox="1"/>
          <p:nvPr/>
        </p:nvSpPr>
        <p:spPr>
          <a:xfrm>
            <a:off x="742882" y="4262735"/>
            <a:ext cx="102916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5400" b="1" dirty="0">
                <a:solidFill>
                  <a:schemeClr val="bg1"/>
                </a:solidFill>
                <a:latin typeface="Abadi" panose="020B0604020104020204" pitchFamily="34" charset="0"/>
              </a:rPr>
              <a:t>GET EXCITED FOR THE LIVE 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3B628-D589-4EC7-A34D-9C44B2F0912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028" y="945528"/>
            <a:ext cx="3199309" cy="319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517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7AFDB8-2306-455D-8C8B-87B44330C67B}"/>
              </a:ext>
            </a:extLst>
          </p:cNvPr>
          <p:cNvSpPr/>
          <p:nvPr/>
        </p:nvSpPr>
        <p:spPr>
          <a:xfrm>
            <a:off x="12872" y="-158610"/>
            <a:ext cx="12179127" cy="1310009"/>
          </a:xfrm>
          <a:prstGeom prst="roundRect">
            <a:avLst/>
          </a:prstGeom>
          <a:gradFill flip="none" rotWithShape="1">
            <a:gsLst>
              <a:gs pos="0">
                <a:srgbClr val="FFC000"/>
              </a:gs>
              <a:gs pos="100000">
                <a:srgbClr val="FFFF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FE4FD1BF-8831-496E-B5AE-8E686BB32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8511" y="99600"/>
            <a:ext cx="8872942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err="1">
                <a:latin typeface="Abadi" panose="020B0604020104020204" pitchFamily="34" charset="0"/>
              </a:rPr>
              <a:t>Mr</a:t>
            </a:r>
            <a:r>
              <a:rPr lang="en-US" sz="2800" dirty="0">
                <a:latin typeface="Abadi" panose="020B0604020104020204" pitchFamily="34" charset="0"/>
              </a:rPr>
              <a:t> Sunshine India – Mapping India’s Solar Infrastructure </a:t>
            </a:r>
            <a:endParaRPr kumimoji="0" lang="de-CH" altLang="de-DE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altLang="de-DE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Agentic</a:t>
            </a:r>
            <a:r>
              <a:rPr kumimoji="0" lang="de-CH" altLang="de-DE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de-CH" altLang="de-DE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kumimoji="0" lang="de-CH" altLang="de-DE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" panose="020B0604020104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Pipeline</a:t>
            </a:r>
            <a:endParaRPr kumimoji="0" lang="de-CH" altLang="de-DE" sz="4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5766659-1230-4C0F-B079-C6ADF3A748CE}"/>
              </a:ext>
            </a:extLst>
          </p:cNvPr>
          <p:cNvSpPr txBox="1"/>
          <p:nvPr/>
        </p:nvSpPr>
        <p:spPr>
          <a:xfrm>
            <a:off x="836240" y="6472582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badi" panose="020B0604020104020204" pitchFamily="34" charset="0"/>
                <a:cs typeface="Arial" panose="020B0604020202020204" pitchFamily="34" charset="0"/>
              </a:rPr>
              <a:t>Online Sources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D551BA1-E3A9-4EE4-AC61-0679E34D1A01}"/>
              </a:ext>
            </a:extLst>
          </p:cNvPr>
          <p:cNvSpPr/>
          <p:nvPr/>
        </p:nvSpPr>
        <p:spPr>
          <a:xfrm>
            <a:off x="409575" y="3322546"/>
            <a:ext cx="2753245" cy="31661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4FE3009-B2DE-430A-B416-2CD4394B0B53}"/>
              </a:ext>
            </a:extLst>
          </p:cNvPr>
          <p:cNvSpPr/>
          <p:nvPr/>
        </p:nvSpPr>
        <p:spPr>
          <a:xfrm>
            <a:off x="3571355" y="3322546"/>
            <a:ext cx="2029345" cy="31661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3F4BA95-3A0D-4352-96D1-F1C63DB49896}"/>
              </a:ext>
            </a:extLst>
          </p:cNvPr>
          <p:cNvSpPr txBox="1"/>
          <p:nvPr/>
        </p:nvSpPr>
        <p:spPr>
          <a:xfrm>
            <a:off x="3674866" y="6497982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badi" panose="020B0604020104020204" pitchFamily="34" charset="0"/>
                <a:cs typeface="Arial" panose="020B0604020202020204" pitchFamily="34" charset="0"/>
              </a:rPr>
              <a:t>Raw Data Lake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E34F6D2-7060-4964-BCD0-CE570FF59896}"/>
              </a:ext>
            </a:extLst>
          </p:cNvPr>
          <p:cNvSpPr txBox="1"/>
          <p:nvPr/>
        </p:nvSpPr>
        <p:spPr>
          <a:xfrm rot="16200000">
            <a:off x="-403113" y="4648101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badi" panose="020B0604020104020204" pitchFamily="34" charset="0"/>
                <a:cs typeface="Arial" panose="020B0604020202020204" pitchFamily="34" charset="0"/>
              </a:rPr>
              <a:t>Data Flow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C8C3050-A14F-46BE-AB7E-06C6BD9806DA}"/>
              </a:ext>
            </a:extLst>
          </p:cNvPr>
          <p:cNvSpPr txBox="1"/>
          <p:nvPr/>
        </p:nvSpPr>
        <p:spPr>
          <a:xfrm rot="16200000">
            <a:off x="-528782" y="2187050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>
                <a:latin typeface="Abadi" panose="020B0604020104020204" pitchFamily="34" charset="0"/>
                <a:cs typeface="Arial" panose="020B0604020202020204" pitchFamily="34" charset="0"/>
              </a:rPr>
              <a:t>Technologies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DDA1F39-A991-4CDA-9604-46F2AA76C474}"/>
              </a:ext>
            </a:extLst>
          </p:cNvPr>
          <p:cNvSpPr/>
          <p:nvPr/>
        </p:nvSpPr>
        <p:spPr>
          <a:xfrm>
            <a:off x="1919718" y="1534080"/>
            <a:ext cx="2661807" cy="154356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0730BCD5-BAD1-4F42-B25E-E21D9123E19D}"/>
              </a:ext>
            </a:extLst>
          </p:cNvPr>
          <p:cNvSpPr/>
          <p:nvPr/>
        </p:nvSpPr>
        <p:spPr>
          <a:xfrm rot="5400000">
            <a:off x="3203748" y="4890807"/>
            <a:ext cx="374839" cy="18547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Isosceles Triangle 99">
            <a:extLst>
              <a:ext uri="{FF2B5EF4-FFF2-40B4-BE49-F238E27FC236}">
                <a16:creationId xmlns:a16="http://schemas.microsoft.com/office/drawing/2014/main" id="{5C45AAB5-9B01-4985-98BE-E998E9246D6C}"/>
              </a:ext>
            </a:extLst>
          </p:cNvPr>
          <p:cNvSpPr/>
          <p:nvPr/>
        </p:nvSpPr>
        <p:spPr>
          <a:xfrm rot="5400000">
            <a:off x="5626541" y="4890807"/>
            <a:ext cx="374839" cy="18547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6235EDB-7825-417C-88C6-618C161AFB20}"/>
              </a:ext>
            </a:extLst>
          </p:cNvPr>
          <p:cNvSpPr/>
          <p:nvPr/>
        </p:nvSpPr>
        <p:spPr>
          <a:xfrm>
            <a:off x="5988027" y="3322544"/>
            <a:ext cx="2110388" cy="31661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EB079F-D70B-470A-A6FB-BB0B063707A6}"/>
              </a:ext>
            </a:extLst>
          </p:cNvPr>
          <p:cNvSpPr txBox="1"/>
          <p:nvPr/>
        </p:nvSpPr>
        <p:spPr>
          <a:xfrm>
            <a:off x="6074659" y="649798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 err="1">
                <a:latin typeface="Abadi" panose="020B0604020104020204" pitchFamily="34" charset="0"/>
                <a:cs typeface="Arial" panose="020B0604020202020204" pitchFamily="34" charset="0"/>
              </a:rPr>
              <a:t>Processed</a:t>
            </a:r>
            <a:r>
              <a:rPr lang="de-CH" b="1" dirty="0">
                <a:latin typeface="Abadi" panose="020B0604020104020204" pitchFamily="34" charset="0"/>
                <a:cs typeface="Arial" panose="020B0604020202020204" pitchFamily="34" charset="0"/>
              </a:rPr>
              <a:t> Data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0BE43EB-2636-4C57-B38C-4174AC2606D1}"/>
              </a:ext>
            </a:extLst>
          </p:cNvPr>
          <p:cNvSpPr/>
          <p:nvPr/>
        </p:nvSpPr>
        <p:spPr>
          <a:xfrm>
            <a:off x="8464527" y="5652970"/>
            <a:ext cx="3317898" cy="84501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AEBDA37-0807-4BD0-84E4-46EC9848E639}"/>
              </a:ext>
            </a:extLst>
          </p:cNvPr>
          <p:cNvSpPr txBox="1"/>
          <p:nvPr/>
        </p:nvSpPr>
        <p:spPr>
          <a:xfrm>
            <a:off x="9581276" y="6497982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 err="1">
                <a:latin typeface="Abadi" panose="020B0604020104020204" pitchFamily="34" charset="0"/>
                <a:cs typeface="Arial" panose="020B0604020202020204" pitchFamily="34" charset="0"/>
              </a:rPr>
              <a:t>DataBase</a:t>
            </a:r>
            <a:endParaRPr lang="de-CH" b="1" dirty="0"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Isosceles Triangle 104">
            <a:extLst>
              <a:ext uri="{FF2B5EF4-FFF2-40B4-BE49-F238E27FC236}">
                <a16:creationId xmlns:a16="http://schemas.microsoft.com/office/drawing/2014/main" id="{2D70F2D1-F1A5-4067-8545-FB0032287F27}"/>
              </a:ext>
            </a:extLst>
          </p:cNvPr>
          <p:cNvSpPr/>
          <p:nvPr/>
        </p:nvSpPr>
        <p:spPr>
          <a:xfrm rot="5400000">
            <a:off x="8100914" y="6117792"/>
            <a:ext cx="374839" cy="18547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F9EE43D5-7C35-4781-8B85-72D9EB8C4955}"/>
              </a:ext>
            </a:extLst>
          </p:cNvPr>
          <p:cNvSpPr/>
          <p:nvPr/>
        </p:nvSpPr>
        <p:spPr>
          <a:xfrm>
            <a:off x="9936055" y="5321052"/>
            <a:ext cx="374839" cy="18547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5BF9900-B0B9-4A50-8011-9F300E3C4DEC}"/>
              </a:ext>
            </a:extLst>
          </p:cNvPr>
          <p:cNvSpPr/>
          <p:nvPr/>
        </p:nvSpPr>
        <p:spPr>
          <a:xfrm>
            <a:off x="8446042" y="3339185"/>
            <a:ext cx="3317898" cy="19235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592F9AC-79F5-4B51-B2D6-A46532E82AF5}"/>
              </a:ext>
            </a:extLst>
          </p:cNvPr>
          <p:cNvSpPr txBox="1"/>
          <p:nvPr/>
        </p:nvSpPr>
        <p:spPr>
          <a:xfrm>
            <a:off x="8446042" y="3280852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b="1" dirty="0" err="1"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  <a:r>
              <a:rPr lang="de-CH" b="1" dirty="0">
                <a:latin typeface="Arial" panose="020B0604020202020204" pitchFamily="34" charset="0"/>
                <a:cs typeface="Arial" panose="020B0604020202020204" pitchFamily="34" charset="0"/>
              </a:rPr>
              <a:t> / UI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EEA53A9E-D47C-4A86-9DDA-09BE4F3F4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323" y="3624038"/>
            <a:ext cx="2653335" cy="1448608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A6D5E4EF-677C-471E-AD18-55CC431CA2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1" r="3944"/>
          <a:stretch/>
        </p:blipFill>
        <p:spPr>
          <a:xfrm>
            <a:off x="2090268" y="2406601"/>
            <a:ext cx="942018" cy="599605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98CEC46D-880C-4B28-9FD1-53DEBA7DC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450" y="1624994"/>
            <a:ext cx="523112" cy="523112"/>
          </a:xfrm>
          <a:prstGeom prst="rect">
            <a:avLst/>
          </a:prstGeom>
        </p:spPr>
      </p:pic>
      <p:pic>
        <p:nvPicPr>
          <p:cNvPr id="112" name="Picture 2" descr="Datei:Microsoft Office Excel (2019–present).svg – Wikipedia">
            <a:hlinkClick r:id="rId6"/>
            <a:extLst>
              <a:ext uri="{FF2B5EF4-FFF2-40B4-BE49-F238E27FC236}">
                <a16:creationId xmlns:a16="http://schemas.microsoft.com/office/drawing/2014/main" id="{1BFFDE6A-FA14-4E6D-B81D-BAF421E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114" y="1624994"/>
            <a:ext cx="439081" cy="408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1A3CF814-E1B7-45E6-8C0A-CDC31CD618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0461" y="1645869"/>
            <a:ext cx="1169125" cy="172053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065FF160-545E-4C99-A1E2-10C7DC5421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827" y="2322019"/>
            <a:ext cx="580599" cy="2488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919CF74C-1097-4C2A-B29E-709FFCFC67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848" y="2478554"/>
            <a:ext cx="527652" cy="527652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270CE816-632F-424E-B5B3-9778ECAD15F5}"/>
              </a:ext>
            </a:extLst>
          </p:cNvPr>
          <p:cNvSpPr txBox="1"/>
          <p:nvPr/>
        </p:nvSpPr>
        <p:spPr>
          <a:xfrm>
            <a:off x="2239095" y="1693189"/>
            <a:ext cx="15863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>
                <a:latin typeface="Arial" panose="020B0604020202020204" pitchFamily="34" charset="0"/>
                <a:cs typeface="Arial" panose="020B0604020202020204" pitchFamily="34" charset="0"/>
              </a:rPr>
              <a:t>Python – 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running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agentic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scrapers</a:t>
            </a:r>
            <a:endParaRPr lang="de-CH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C27A8A7-8858-4B19-8916-30E00A0B1183}"/>
              </a:ext>
            </a:extLst>
          </p:cNvPr>
          <p:cNvSpPr txBox="1"/>
          <p:nvPr/>
        </p:nvSpPr>
        <p:spPr>
          <a:xfrm>
            <a:off x="2983257" y="2335160"/>
            <a:ext cx="158638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 err="1">
                <a:latin typeface="Arial" panose="020B0604020202020204" pitchFamily="34" charset="0"/>
                <a:cs typeface="Arial" panose="020B0604020202020204" pitchFamily="34" charset="0"/>
              </a:rPr>
              <a:t>Selenium</a:t>
            </a:r>
            <a:r>
              <a:rPr lang="de-CH" sz="1050" b="1" dirty="0">
                <a:latin typeface="Arial" panose="020B0604020202020204" pitchFamily="34" charset="0"/>
                <a:cs typeface="Arial" panose="020B0604020202020204" pitchFamily="34" charset="0"/>
              </a:rPr>
              <a:t> &amp; Chrome – </a:t>
            </a:r>
            <a:br>
              <a:rPr lang="de-CH" sz="105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browser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automation</a:t>
            </a:r>
            <a:endParaRPr lang="de-CH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9DA22AD-1410-4534-9852-1B7F351C123A}"/>
              </a:ext>
            </a:extLst>
          </p:cNvPr>
          <p:cNvSpPr/>
          <p:nvPr/>
        </p:nvSpPr>
        <p:spPr>
          <a:xfrm>
            <a:off x="4938735" y="1520050"/>
            <a:ext cx="2356746" cy="154356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0E17B4B-ACEF-41C7-A2FA-2E56B76F732C}"/>
              </a:ext>
            </a:extLst>
          </p:cNvPr>
          <p:cNvSpPr txBox="1"/>
          <p:nvPr/>
        </p:nvSpPr>
        <p:spPr>
          <a:xfrm>
            <a:off x="4957026" y="1789734"/>
            <a:ext cx="1706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OCR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extraction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images</a:t>
            </a:r>
            <a:endParaRPr lang="de-CH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CD71105-3D4D-48C9-8FDF-35F0F67F25CC}"/>
              </a:ext>
            </a:extLst>
          </p:cNvPr>
          <p:cNvSpPr txBox="1"/>
          <p:nvPr/>
        </p:nvSpPr>
        <p:spPr>
          <a:xfrm>
            <a:off x="5436478" y="2628433"/>
            <a:ext cx="170680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coordination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location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retrieval</a:t>
            </a:r>
            <a:endParaRPr lang="de-CH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5222CED-83CF-407C-96CE-CF5D10917A5A}"/>
              </a:ext>
            </a:extLst>
          </p:cNvPr>
          <p:cNvSpPr txBox="1"/>
          <p:nvPr/>
        </p:nvSpPr>
        <p:spPr>
          <a:xfrm>
            <a:off x="5976712" y="2093218"/>
            <a:ext cx="11428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HTML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parsing</a:t>
            </a:r>
            <a:endParaRPr lang="de-CH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" name="Picture 121">
            <a:extLst>
              <a:ext uri="{FF2B5EF4-FFF2-40B4-BE49-F238E27FC236}">
                <a16:creationId xmlns:a16="http://schemas.microsoft.com/office/drawing/2014/main" id="{4634E84D-185C-41DB-80D1-13B450E5E1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0177" y="1565680"/>
            <a:ext cx="812511" cy="475556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D5328B2C-982A-4ADA-81AF-E9844203A1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816" y="2056936"/>
            <a:ext cx="929978" cy="318186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9B2A11A0-0D63-432C-A2DC-76F018453AB7}"/>
              </a:ext>
            </a:extLst>
          </p:cNvPr>
          <p:cNvSpPr/>
          <p:nvPr/>
        </p:nvSpPr>
        <p:spPr>
          <a:xfrm>
            <a:off x="8446042" y="1542233"/>
            <a:ext cx="3336383" cy="154356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2643F0DD-EC79-4CC1-B559-6F7AEA4ED6E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066" y="2447242"/>
            <a:ext cx="381266" cy="393022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227A1194-907D-47B5-B7A7-141AC38F71E4}"/>
              </a:ext>
            </a:extLst>
          </p:cNvPr>
          <p:cNvSpPr txBox="1"/>
          <p:nvPr/>
        </p:nvSpPr>
        <p:spPr>
          <a:xfrm>
            <a:off x="9983555" y="2441027"/>
            <a:ext cx="12854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&amp; Fast 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endParaRPr lang="de-CH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45771C1-4C05-45D2-BB9F-E1EA238483B2}"/>
              </a:ext>
            </a:extLst>
          </p:cNvPr>
          <p:cNvSpPr txBox="1"/>
          <p:nvPr/>
        </p:nvSpPr>
        <p:spPr>
          <a:xfrm>
            <a:off x="9568066" y="1694706"/>
            <a:ext cx="136031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For Python-</a:t>
            </a:r>
            <a:r>
              <a:rPr lang="de-CH" sz="1050" dirty="0" err="1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de-CH" sz="1050" dirty="0">
                <a:latin typeface="Arial" panose="020B0604020202020204" pitchFamily="34" charset="0"/>
                <a:cs typeface="Arial" panose="020B0604020202020204" pitchFamily="34" charset="0"/>
              </a:rPr>
              <a:t> front end in Browser</a:t>
            </a: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78A959E5-447D-4867-8F4C-D0BE69FCD68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7312" y="5920979"/>
            <a:ext cx="432324" cy="432324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D3C39FC0-AF29-4691-8525-67D9E4D46ADB}"/>
              </a:ext>
            </a:extLst>
          </p:cNvPr>
          <p:cNvSpPr txBox="1"/>
          <p:nvPr/>
        </p:nvSpPr>
        <p:spPr>
          <a:xfrm>
            <a:off x="699216" y="3565803"/>
            <a:ext cx="2094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Government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Public Tender Information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54860CE-E445-4F8C-B2DA-2A86057F0A07}"/>
              </a:ext>
            </a:extLst>
          </p:cNvPr>
          <p:cNvSpPr txBox="1"/>
          <p:nvPr/>
        </p:nvSpPr>
        <p:spPr>
          <a:xfrm>
            <a:off x="690415" y="4099152"/>
            <a:ext cx="12362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Companies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Azure Power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Renew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Tata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Power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9947723-322E-4BCE-9357-4B467BA674DA}"/>
              </a:ext>
            </a:extLst>
          </p:cNvPr>
          <p:cNvSpPr txBox="1"/>
          <p:nvPr/>
        </p:nvSpPr>
        <p:spPr>
          <a:xfrm>
            <a:off x="701407" y="5039951"/>
            <a:ext cx="2188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International </a:t>
            </a:r>
            <a:r>
              <a:rPr lang="de-CH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Organisations</a:t>
            </a:r>
            <a:endParaRPr lang="de-CH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StatisticTimes</a:t>
            </a:r>
            <a:endParaRPr lang="de-CH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INCED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D428D33-D97A-46A5-8F85-8788ABA284E5}"/>
              </a:ext>
            </a:extLst>
          </p:cNvPr>
          <p:cNvSpPr txBox="1"/>
          <p:nvPr/>
        </p:nvSpPr>
        <p:spPr>
          <a:xfrm>
            <a:off x="699216" y="5752334"/>
            <a:ext cx="1773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Academia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Geo-Data (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UCDavis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67C09F9-1931-474C-90F3-D55DC04FCC9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864" y="4327925"/>
            <a:ext cx="157760" cy="15776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FBB5BEC-B688-47C0-A816-8DB18BB7FB7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87" y="5992590"/>
            <a:ext cx="173536" cy="173536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E9DDA6D5-CF91-4014-95FA-FCA24825F5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874" y="4549979"/>
            <a:ext cx="157760" cy="157760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7970DF47-D2EB-4AD6-87C1-349867CAD21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844" y="4715687"/>
            <a:ext cx="157760" cy="157760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838556BF-FA15-4FFE-A52C-3A4F7927EAF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529" y="5292883"/>
            <a:ext cx="157760" cy="157760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28295171-40C3-4F03-BD75-5B7F152BE92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468" y="3820788"/>
            <a:ext cx="157760" cy="15776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6744158-9FB6-4994-A4EE-E78F8130B0B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925" y="5481297"/>
            <a:ext cx="132099" cy="13209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2ACC7A-7C9E-457C-8F12-D2A223F8A4B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737" y="3862017"/>
            <a:ext cx="307431" cy="307431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429CF145-9D7C-470A-BD31-782D662BFAC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737" y="4403390"/>
            <a:ext cx="307431" cy="307431"/>
          </a:xfrm>
          <a:prstGeom prst="rect">
            <a:avLst/>
          </a:prstGeom>
        </p:spPr>
      </p:pic>
      <p:pic>
        <p:nvPicPr>
          <p:cNvPr id="155" name="Picture 154">
            <a:extLst>
              <a:ext uri="{FF2B5EF4-FFF2-40B4-BE49-F238E27FC236}">
                <a16:creationId xmlns:a16="http://schemas.microsoft.com/office/drawing/2014/main" id="{A4A0793B-2801-4D38-BDAC-41B1F3C0EE2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737" y="5015527"/>
            <a:ext cx="307431" cy="307431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967FF6C8-224C-43E4-87A2-D74897DADAD6}"/>
              </a:ext>
            </a:extLst>
          </p:cNvPr>
          <p:cNvSpPr txBox="1"/>
          <p:nvPr/>
        </p:nvSpPr>
        <p:spPr>
          <a:xfrm>
            <a:off x="6439820" y="3884286"/>
            <a:ext cx="108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Project Data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2E42646-EBB1-4DB1-A1F0-38426B2FA8D3}"/>
              </a:ext>
            </a:extLst>
          </p:cNvPr>
          <p:cNvSpPr txBox="1"/>
          <p:nvPr/>
        </p:nvSpPr>
        <p:spPr>
          <a:xfrm>
            <a:off x="6452745" y="4348342"/>
            <a:ext cx="1439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National </a:t>
            </a:r>
            <a:r>
              <a:rPr lang="de-CH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30DDE08-E244-4D4E-ABEE-F518C1AE981F}"/>
              </a:ext>
            </a:extLst>
          </p:cNvPr>
          <p:cNvSpPr txBox="1"/>
          <p:nvPr/>
        </p:nvSpPr>
        <p:spPr>
          <a:xfrm>
            <a:off x="6439820" y="5027953"/>
            <a:ext cx="1061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Tender Data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046FDFB0-39F2-438C-9726-6A222B7D292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737" y="5659293"/>
            <a:ext cx="270676" cy="270676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34ECCDB9-2F9F-42E8-9255-06BD91B9A018}"/>
              </a:ext>
            </a:extLst>
          </p:cNvPr>
          <p:cNvSpPr txBox="1"/>
          <p:nvPr/>
        </p:nvSpPr>
        <p:spPr>
          <a:xfrm>
            <a:off x="6439820" y="5652970"/>
            <a:ext cx="1439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Topography</a:t>
            </a:r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</p:txBody>
      </p:sp>
      <p:pic>
        <p:nvPicPr>
          <p:cNvPr id="162" name="Picture 161">
            <a:extLst>
              <a:ext uri="{FF2B5EF4-FFF2-40B4-BE49-F238E27FC236}">
                <a16:creationId xmlns:a16="http://schemas.microsoft.com/office/drawing/2014/main" id="{0895A18C-D5A3-4EB4-A017-D7DEA7BFFDB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108" y="3847250"/>
            <a:ext cx="307431" cy="307431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9669B2E2-62F5-4BAA-A19D-3A5E8D2EC60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764" y="3738187"/>
            <a:ext cx="307431" cy="307431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792BB05C-AA20-4358-8D83-4A26B1B7CC8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333" y="4375325"/>
            <a:ext cx="307431" cy="307431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8BF4042B-6C9F-4FFF-9CA0-7CF0337CE23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030" y="4903072"/>
            <a:ext cx="307431" cy="307431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6F69D1F2-B9A5-4F33-BE26-A43FAE78534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39" y="5245781"/>
            <a:ext cx="307431" cy="307431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BBBEEE6C-3FED-42ED-9B23-2145B7990B9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019" y="5869393"/>
            <a:ext cx="307431" cy="307431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7200649E-C4C8-4B1E-96B9-F4CA99B7EDB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509" y="5762089"/>
            <a:ext cx="307431" cy="307431"/>
          </a:xfrm>
          <a:prstGeom prst="rect">
            <a:avLst/>
          </a:prstGeom>
        </p:spPr>
      </p:pic>
      <p:pic>
        <p:nvPicPr>
          <p:cNvPr id="169" name="Picture 168">
            <a:extLst>
              <a:ext uri="{FF2B5EF4-FFF2-40B4-BE49-F238E27FC236}">
                <a16:creationId xmlns:a16="http://schemas.microsoft.com/office/drawing/2014/main" id="{EC56A1F9-7E80-4FB4-BFDC-3041D590E8E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293" y="5413788"/>
            <a:ext cx="307431" cy="307431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9C3C1BEC-5CE6-4E82-A634-73721CA95E4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161" y="5971384"/>
            <a:ext cx="307431" cy="307431"/>
          </a:xfrm>
          <a:prstGeom prst="rect">
            <a:avLst/>
          </a:prstGeom>
        </p:spPr>
      </p:pic>
      <p:pic>
        <p:nvPicPr>
          <p:cNvPr id="171" name="Picture 170">
            <a:extLst>
              <a:ext uri="{FF2B5EF4-FFF2-40B4-BE49-F238E27FC236}">
                <a16:creationId xmlns:a16="http://schemas.microsoft.com/office/drawing/2014/main" id="{C31C29BC-20EE-4BD6-AE19-EDE2B52A86D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915" y="4825855"/>
            <a:ext cx="307431" cy="307431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F572E25A-8F83-47C1-B4BE-B1E03C4CC26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008" y="4120404"/>
            <a:ext cx="307431" cy="307431"/>
          </a:xfrm>
          <a:prstGeom prst="rect">
            <a:avLst/>
          </a:prstGeom>
        </p:spPr>
      </p:pic>
      <p:pic>
        <p:nvPicPr>
          <p:cNvPr id="173" name="Picture 172">
            <a:extLst>
              <a:ext uri="{FF2B5EF4-FFF2-40B4-BE49-F238E27FC236}">
                <a16:creationId xmlns:a16="http://schemas.microsoft.com/office/drawing/2014/main" id="{0E7FA00A-6A19-4BD6-8928-5EFCB3F4EC1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618" y="3526972"/>
            <a:ext cx="257424" cy="257424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5C6D44B0-8DAB-4471-ABB6-457B89C9ACA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228" y="4169448"/>
            <a:ext cx="257424" cy="257424"/>
          </a:xfrm>
          <a:prstGeom prst="rect">
            <a:avLst/>
          </a:prstGeom>
        </p:spPr>
      </p:pic>
      <p:pic>
        <p:nvPicPr>
          <p:cNvPr id="175" name="Picture 174">
            <a:extLst>
              <a:ext uri="{FF2B5EF4-FFF2-40B4-BE49-F238E27FC236}">
                <a16:creationId xmlns:a16="http://schemas.microsoft.com/office/drawing/2014/main" id="{7696AF80-30BF-4E00-B5F4-71FDD486768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584" y="4832767"/>
            <a:ext cx="257424" cy="257424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BE1006EE-B4C6-4CF3-82AA-6E57F1B92AB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235" y="5504665"/>
            <a:ext cx="257424" cy="257424"/>
          </a:xfrm>
          <a:prstGeom prst="rect">
            <a:avLst/>
          </a:prstGeom>
        </p:spPr>
      </p:pic>
      <p:pic>
        <p:nvPicPr>
          <p:cNvPr id="1028" name="Picture 4" descr="Data report - Free business icons">
            <a:hlinkClick r:id="rId20"/>
            <a:extLst>
              <a:ext uri="{FF2B5EF4-FFF2-40B4-BE49-F238E27FC236}">
                <a16:creationId xmlns:a16="http://schemas.microsoft.com/office/drawing/2014/main" id="{B4A2C9AB-90CD-4BA7-875F-AA385E8F4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427" y="3483118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Picture 4" descr="Data report - Free business icons">
            <a:hlinkClick r:id="rId20"/>
            <a:extLst>
              <a:ext uri="{FF2B5EF4-FFF2-40B4-BE49-F238E27FC236}">
                <a16:creationId xmlns:a16="http://schemas.microsoft.com/office/drawing/2014/main" id="{F7A868B0-C462-427A-8811-BA1ACE940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322" y="4598399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Picture 4" descr="Data report - Free business icons">
            <a:hlinkClick r:id="rId20"/>
            <a:extLst>
              <a:ext uri="{FF2B5EF4-FFF2-40B4-BE49-F238E27FC236}">
                <a16:creationId xmlns:a16="http://schemas.microsoft.com/office/drawing/2014/main" id="{E0759C9A-A934-4268-AB4A-6A745C763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798" y="5533593"/>
            <a:ext cx="350417" cy="350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6A5D5-AE66-4708-89C6-6BC47F516C5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448" y="1414"/>
            <a:ext cx="1019397" cy="10193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62692-29AF-4603-83F5-61592EBC3C7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00" y="57752"/>
            <a:ext cx="926725" cy="926725"/>
          </a:xfrm>
          <a:prstGeom prst="rect">
            <a:avLst/>
          </a:prstGeom>
        </p:spPr>
      </p:pic>
      <p:pic>
        <p:nvPicPr>
          <p:cNvPr id="1026" name="Picture 2" descr="Datei:Openstreetmap logo.svg – Wikipedia">
            <a:hlinkClick r:id="rId24"/>
            <a:extLst>
              <a:ext uri="{FF2B5EF4-FFF2-40B4-BE49-F238E27FC236}">
                <a16:creationId xmlns:a16="http://schemas.microsoft.com/office/drawing/2014/main" id="{F9B548C5-88FB-4FF5-82F6-D693809FB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192" y="2648913"/>
            <a:ext cx="385459" cy="38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47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Widescreen</PresentationFormat>
  <Paragraphs>69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Abadi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Riehl  Kevin</dc:creator>
  <cp:lastModifiedBy>Riehl  Kevin</cp:lastModifiedBy>
  <cp:revision>43</cp:revision>
  <dcterms:created xsi:type="dcterms:W3CDTF">2025-05-02T20:21:12Z</dcterms:created>
  <dcterms:modified xsi:type="dcterms:W3CDTF">2025-05-03T20:39:35Z</dcterms:modified>
</cp:coreProperties>
</file>