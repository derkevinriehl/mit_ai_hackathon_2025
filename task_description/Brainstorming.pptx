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56" r:id="rId4"/>
    <p:sldId id="265" r:id="rId5"/>
    <p:sldId id="267" r:id="rId6"/>
    <p:sldId id="266" r:id="rId7"/>
    <p:sldId id="262" r:id="rId8"/>
    <p:sldId id="261" r:id="rId9"/>
    <p:sldId id="257" r:id="rId10"/>
    <p:sldId id="259" r:id="rId11"/>
    <p:sldId id="260" r:id="rId12"/>
    <p:sldId id="25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>
        <p:scale>
          <a:sx n="100" d="100"/>
          <a:sy n="100" d="100"/>
        </p:scale>
        <p:origin x="11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9B9B3-1D81-4150-A54C-4085A238B985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259FC-14D1-48B2-B0B3-4EC7838B27A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785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59FC-14D1-48B2-B0B3-4EC7838B27A7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171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2BF-5D38-4083-8124-3B64933B8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E2279-F3B9-45CF-9215-2A6CEC4D9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7F7A-A1E0-4F43-90ED-F98ABA8A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31221-29D3-4FC3-88DE-755B4147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5394-C1C2-4874-9347-CD6DF286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03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9210-90AB-48EB-9C16-ACE615A6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1604-CDAA-4140-90D8-F00C6BC1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ACAFB-ECDF-436B-AC5D-89070A06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33C2-4056-4138-8D8E-78E3A2F5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DD3B-3E7C-43F9-9311-D1EEDF14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855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FA0C-8BB1-4A7B-80AB-7365CD98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53C2-DD6E-452E-86EC-A5C4AADEE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1A523-7BE6-4F89-BBC1-0B86B41F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A2838-E172-4BF7-B66D-3435BFD2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48B46-BD60-4BEA-BDA6-0D75E81F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05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4E59-B034-4E6D-A490-3F1E47E0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454B-2550-4FA7-A13C-306730D7B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E66DC-B095-46DF-B909-BBC13EF7C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F7FA3-FF6E-4486-9A3B-47750D6D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E1B6A-8BC2-4DA6-BDB7-08631BBC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FFFB-F11A-4046-8804-C93EE2C2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054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378C-DB86-4BF4-8F35-EDEF70A2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3F7DA-A6BC-4B94-A7EB-1C967E3C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46855-9071-475C-8173-7ECDDA70D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9E9BA-5A95-498B-9B37-FAACE5371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BAF3D-F17B-4C91-8DE0-7539927E1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C47D3-FCA3-424C-8538-16110EEE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1C0DA-A611-4866-BBA0-C6188BEE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B29BE-439B-437E-93AB-6A3222E3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806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5CC3-143C-47C2-993B-9F1CBDB6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286E9-9643-4F91-AC6F-5841B9F9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E561B-3FBE-4186-87A5-CB0E99F8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D5309-35ED-4AAD-9CD9-3C1DF4F9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160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C5692-CDE8-446C-9DB8-DE65C45B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E73B3-6B6E-4DF5-B16C-B4232491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1969-D455-4339-905B-50476DE8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547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528F-C234-4792-ACB4-9BAB517C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9819-5D43-41D4-8EA2-EA1DDC7C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6DA96-EE12-488D-BD32-E2E56C251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ED9E5-33C5-45A5-B015-98CDCCD1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BF112-980F-4941-9B6B-5CC24CFE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259A-53F4-437C-9737-C3E3EA77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946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2D8A-C292-47B2-9B19-A11D91A4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85AA3-7D38-4E2E-9EF0-F12D75D21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70BE9-96A9-4C78-B7C7-936C01D44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C83BE-5735-4B51-B38C-D6B46386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B46D3-664F-4DA9-AE34-56A7B12B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114E8-7BBB-477C-A34E-B432522D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782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E688-1F22-4E15-8776-447D6E7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DFC6E-5D4B-4A9C-B20D-9E8930802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090EB-114A-4528-8E70-C0AE4816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03C3-3661-468F-892F-C8548B71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C665F-E398-4BD4-AEDD-8D74AE80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54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D4485-7738-433A-8D63-E4FE4BE87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22081-B1BA-4C95-A71C-7D00EC2EF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F3C7-92D1-4FCB-8B12-5AD92373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6DD45-6301-43B7-BE95-C53D789B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0B5-7156-41A1-94EA-5C98F612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842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93344-34C9-4A22-986E-4D298E0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29864-E787-4DBA-94B4-FB541574B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62AE-1BBD-4F50-94C9-E10E4964B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9054-466E-4762-B50C-929686921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142BE-16FC-4F12-BC8D-F063773E5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27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hyperlink" Target="https://www.google.com/imgres?q=excel%20logo&amp;imgurl=https%3A%2F%2Fupload.wikimedia.org%2Fwikipedia%2Fcommons%2Fthumb%2F3%2F34%2FMicrosoft_Office_Excel_%25282019%25E2%2580%2593present%2529.svg%2F826px-Microsoft_Office_Excel_%25282019%25E2%2580%2593present%2529.svg.png&amp;imgrefurl=https%3A%2F%2Fde.m.wikipedia.org%2Fwiki%2FDatei%3AMicrosoft_Office_Excel_(2019%25E2%2580%2593present).svg&amp;docid=0rXvXs4r2WkrqM&amp;tbnid=vVuo10AA2qKOLM&amp;vet=12ahUKEwiSt4uv34aNAxUQRP4FHQVtKMsQM3oECB4QAA..i&amp;w=826&amp;h=769&amp;hcb=2&amp;ved=2ahUKEwiSt4uv34aNAxUQRP4FHQVtKMsQM3oECB4QAA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3D6B3A-1E47-4A30-8332-F249295047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84F5A7-AB1C-4142-9533-07AF62B0F607}"/>
              </a:ext>
            </a:extLst>
          </p:cNvPr>
          <p:cNvSpPr txBox="1"/>
          <p:nvPr/>
        </p:nvSpPr>
        <p:spPr>
          <a:xfrm>
            <a:off x="647621" y="2875002"/>
            <a:ext cx="115443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6600" b="1" dirty="0">
                <a:solidFill>
                  <a:schemeClr val="bg1"/>
                </a:solidFill>
              </a:rPr>
              <a:t>DELIVERABLES FOR HACKATHON</a:t>
            </a:r>
          </a:p>
        </p:txBody>
      </p:sp>
    </p:spTree>
    <p:extLst>
      <p:ext uri="{BB962C8B-B14F-4D97-AF65-F5344CB8AC3E}">
        <p14:creationId xmlns:p14="http://schemas.microsoft.com/office/powerpoint/2010/main" val="130951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3ED0F9-067F-4BC4-B1F1-9BE44CBC2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66276"/>
              </p:ext>
            </p:extLst>
          </p:nvPr>
        </p:nvGraphicFramePr>
        <p:xfrm>
          <a:off x="4206875" y="2892330"/>
          <a:ext cx="5762625" cy="261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28">
                  <a:extLst>
                    <a:ext uri="{9D8B030D-6E8A-4147-A177-3AD203B41FA5}">
                      <a16:colId xmlns:a16="http://schemas.microsoft.com/office/drawing/2014/main" val="3090020332"/>
                    </a:ext>
                  </a:extLst>
                </a:gridCol>
                <a:gridCol w="1945203">
                  <a:extLst>
                    <a:ext uri="{9D8B030D-6E8A-4147-A177-3AD203B41FA5}">
                      <a16:colId xmlns:a16="http://schemas.microsoft.com/office/drawing/2014/main" val="1695622273"/>
                    </a:ext>
                  </a:extLst>
                </a:gridCol>
                <a:gridCol w="1497775">
                  <a:extLst>
                    <a:ext uri="{9D8B030D-6E8A-4147-A177-3AD203B41FA5}">
                      <a16:colId xmlns:a16="http://schemas.microsoft.com/office/drawing/2014/main" val="3579095063"/>
                    </a:ext>
                  </a:extLst>
                </a:gridCol>
                <a:gridCol w="2097519">
                  <a:extLst>
                    <a:ext uri="{9D8B030D-6E8A-4147-A177-3AD203B41FA5}">
                      <a16:colId xmlns:a16="http://schemas.microsoft.com/office/drawing/2014/main" val="829909650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#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Item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Format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Purpose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9187079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1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Project Summary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Text (150–300 words)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High-level pitch for the jury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807841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2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Demo Video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Link (max 60 sec)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Demonstrate your project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0614111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3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</a:rPr>
                        <a:t>Tech Video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Link (max 60 sec)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Explain how you built it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6651225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4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</a:rPr>
                        <a:t>1-Page Report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PDF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Structured technical summary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9892691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5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GitHub Repository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Public link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Source code and documentation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9198254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6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Zipped Code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.zip file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Local backup of your project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2332054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7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Dataset (if used or generated)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>
                          <a:effectLst/>
                        </a:rPr>
                        <a:t>Link or “N/A”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</a:rPr>
                        <a:t>Raw </a:t>
                      </a:r>
                      <a:r>
                        <a:rPr lang="de-CH" sz="1100" dirty="0" err="1">
                          <a:effectLst/>
                        </a:rPr>
                        <a:t>or</a:t>
                      </a:r>
                      <a:r>
                        <a:rPr lang="de-CH" sz="1100" dirty="0">
                          <a:effectLst/>
                        </a:rPr>
                        <a:t> </a:t>
                      </a:r>
                      <a:r>
                        <a:rPr lang="de-CH" sz="1100" dirty="0" err="1">
                          <a:effectLst/>
                        </a:rPr>
                        <a:t>processed</a:t>
                      </a:r>
                      <a:r>
                        <a:rPr lang="de-CH" sz="1100" dirty="0">
                          <a:effectLst/>
                        </a:rPr>
                        <a:t> </a:t>
                      </a:r>
                      <a:r>
                        <a:rPr lang="de-CH" sz="1100" dirty="0" err="1">
                          <a:effectLst/>
                        </a:rPr>
                        <a:t>data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2337951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9640A71-F2EB-42BE-944D-D988F1CBE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609" y="767542"/>
            <a:ext cx="3210536" cy="157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Rubric</a:t>
            </a:r>
            <a:r>
              <a:rPr kumimoji="0" lang="de-DE" altLang="de-DE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endParaRPr kumimoji="0" lang="de-CH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technical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quality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(33%)</a:t>
            </a:r>
            <a:endParaRPr kumimoji="0" lang="de-CH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creativity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(33%)</a:t>
            </a:r>
            <a:endParaRPr kumimoji="0" lang="de-CH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quality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structure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clarity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the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demo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(33%)</a:t>
            </a:r>
            <a:endParaRPr kumimoji="0" lang="de-CH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A9402347-494A-437D-8FD7-20A905CF9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0149" y="590570"/>
            <a:ext cx="139814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CRITERIA</a:t>
            </a:r>
            <a:endParaRPr kumimoji="0" lang="de-CH" altLang="de-DE" sz="3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21FD559D-3011-4EB4-9461-685D739A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3593" y="2295862"/>
            <a:ext cx="2170787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DELIVERABLES</a:t>
            </a:r>
            <a:endParaRPr kumimoji="0" lang="de-CH" altLang="de-DE" sz="3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71" y="200752"/>
            <a:ext cx="754924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HACKATHON DELIVERABLES</a:t>
            </a:r>
            <a:endParaRPr kumimoji="0" lang="de-CH" altLang="de-DE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B854E6-8A92-4CDF-B614-E8465509EEF1}"/>
              </a:ext>
            </a:extLst>
          </p:cNvPr>
          <p:cNvCxnSpPr/>
          <p:nvPr/>
        </p:nvCxnSpPr>
        <p:spPr>
          <a:xfrm flipH="1">
            <a:off x="3810171" y="3683000"/>
            <a:ext cx="3967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493149-5844-4F63-A66D-E1141C0E67C8}"/>
              </a:ext>
            </a:extLst>
          </p:cNvPr>
          <p:cNvCxnSpPr/>
          <p:nvPr/>
        </p:nvCxnSpPr>
        <p:spPr>
          <a:xfrm flipH="1">
            <a:off x="3810171" y="4038600"/>
            <a:ext cx="3967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">
            <a:extLst>
              <a:ext uri="{FF2B5EF4-FFF2-40B4-BE49-F238E27FC236}">
                <a16:creationId xmlns:a16="http://schemas.microsoft.com/office/drawing/2014/main" id="{071EC17D-F6D5-4421-90E8-4E6B5108B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289" y="3846487"/>
            <a:ext cx="1580882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Powerpoint</a:t>
            </a:r>
            <a:endParaRPr kumimoji="0" lang="de-CH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E5C1042-05EB-4A61-946A-ECFB0C4DC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289" y="3444845"/>
            <a:ext cx="153760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Browser UI</a:t>
            </a:r>
            <a:endParaRPr kumimoji="0" lang="de-CH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DB5D424A-2388-4BB9-9D5C-7B8382132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571" y="2704138"/>
            <a:ext cx="173336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Word Report</a:t>
            </a:r>
            <a:endParaRPr kumimoji="0" lang="de-CH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FA2098-48E4-46D1-8E0F-0376107F9EB2}"/>
              </a:ext>
            </a:extLst>
          </p:cNvPr>
          <p:cNvCxnSpPr>
            <a:cxnSpLocks/>
          </p:cNvCxnSpPr>
          <p:nvPr/>
        </p:nvCxnSpPr>
        <p:spPr>
          <a:xfrm flipH="1" flipV="1">
            <a:off x="3810171" y="3058081"/>
            <a:ext cx="353422" cy="29471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">
            <a:extLst>
              <a:ext uri="{FF2B5EF4-FFF2-40B4-BE49-F238E27FC236}">
                <a16:creationId xmlns:a16="http://schemas.microsoft.com/office/drawing/2014/main" id="{44D4D824-D74C-42E6-A035-6FF9D861F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918" y="4665473"/>
            <a:ext cx="1010213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Github</a:t>
            </a:r>
            <a:endParaRPr kumimoji="0" lang="de-CH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5A2048-2E53-4D20-8A93-31E2331A2CB9}"/>
              </a:ext>
            </a:extLst>
          </p:cNvPr>
          <p:cNvCxnSpPr>
            <a:cxnSpLocks/>
          </p:cNvCxnSpPr>
          <p:nvPr/>
        </p:nvCxnSpPr>
        <p:spPr>
          <a:xfrm flipH="1">
            <a:off x="3403849" y="4702860"/>
            <a:ext cx="759744" cy="1769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70FAFA-9359-4A1C-9911-ABDB18DA6FFB}"/>
              </a:ext>
            </a:extLst>
          </p:cNvPr>
          <p:cNvCxnSpPr>
            <a:cxnSpLocks/>
          </p:cNvCxnSpPr>
          <p:nvPr/>
        </p:nvCxnSpPr>
        <p:spPr>
          <a:xfrm flipH="1" flipV="1">
            <a:off x="3599531" y="4916565"/>
            <a:ext cx="650626" cy="1312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755EA3-E893-4F80-B6BA-6794DC0076C0}"/>
              </a:ext>
            </a:extLst>
          </p:cNvPr>
          <p:cNvCxnSpPr>
            <a:cxnSpLocks/>
          </p:cNvCxnSpPr>
          <p:nvPr/>
        </p:nvCxnSpPr>
        <p:spPr>
          <a:xfrm flipH="1">
            <a:off x="3599531" y="5388130"/>
            <a:ext cx="650626" cy="976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">
            <a:extLst>
              <a:ext uri="{FF2B5EF4-FFF2-40B4-BE49-F238E27FC236}">
                <a16:creationId xmlns:a16="http://schemas.microsoft.com/office/drawing/2014/main" id="{495E9701-7AE3-420D-93C6-BE5D0B18E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061" y="5257022"/>
            <a:ext cx="1183337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Polybox</a:t>
            </a:r>
            <a:endParaRPr kumimoji="0" lang="de-CH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4631269A-162C-4A5B-B673-7FCECEC34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5" y="3692598"/>
            <a:ext cx="1933734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Model</a:t>
            </a:r>
            <a:br>
              <a:rPr kumimoji="0" lang="de-CH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kumimoji="0" lang="de-CH" altLang="de-D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Scraping</a:t>
            </a:r>
            <a:r>
              <a:rPr kumimoji="0" lang="de-CH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Tech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7F2198-F19A-4107-9ECA-14F32BA5C159}"/>
              </a:ext>
            </a:extLst>
          </p:cNvPr>
          <p:cNvCxnSpPr>
            <a:cxnSpLocks/>
          </p:cNvCxnSpPr>
          <p:nvPr/>
        </p:nvCxnSpPr>
        <p:spPr>
          <a:xfrm flipH="1" flipV="1">
            <a:off x="3447131" y="4263831"/>
            <a:ext cx="759744" cy="10801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27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3D6B3A-1E47-4A30-8332-F249295047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84F5A7-AB1C-4142-9533-07AF62B0F607}"/>
              </a:ext>
            </a:extLst>
          </p:cNvPr>
          <p:cNvSpPr txBox="1"/>
          <p:nvPr/>
        </p:nvSpPr>
        <p:spPr>
          <a:xfrm>
            <a:off x="2906225" y="2875002"/>
            <a:ext cx="659808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6600" b="1" dirty="0">
                <a:solidFill>
                  <a:schemeClr val="bg1"/>
                </a:solidFill>
              </a:rPr>
              <a:t>DATA &amp; SCRAPING</a:t>
            </a:r>
            <a:br>
              <a:rPr lang="de-CH" sz="6600" b="1" dirty="0">
                <a:solidFill>
                  <a:schemeClr val="bg1"/>
                </a:solidFill>
              </a:rPr>
            </a:br>
            <a:r>
              <a:rPr lang="de-CH" sz="6600" b="1" dirty="0">
                <a:solidFill>
                  <a:schemeClr val="bg1"/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291849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A249ABC2-C6AC-434C-94AA-05C184D7F5BE}"/>
              </a:ext>
            </a:extLst>
          </p:cNvPr>
          <p:cNvSpPr/>
          <p:nvPr/>
        </p:nvSpPr>
        <p:spPr>
          <a:xfrm>
            <a:off x="3580388" y="1095374"/>
            <a:ext cx="2339166" cy="53405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67250CD0-22D8-4CD9-A191-6EBAD39BA314}"/>
              </a:ext>
            </a:extLst>
          </p:cNvPr>
          <p:cNvSpPr/>
          <p:nvPr/>
        </p:nvSpPr>
        <p:spPr>
          <a:xfrm>
            <a:off x="4244277" y="0"/>
            <a:ext cx="2181485" cy="1487567"/>
          </a:xfrm>
          <a:prstGeom prst="wedgeRectCallout">
            <a:avLst>
              <a:gd name="adj1" fmla="val -89383"/>
              <a:gd name="adj2" fmla="val 58018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7B9DB7-A172-4E5E-817C-F2ED5001DA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1" r="3944"/>
          <a:stretch/>
        </p:blipFill>
        <p:spPr>
          <a:xfrm>
            <a:off x="4223386" y="27076"/>
            <a:ext cx="2221230" cy="1413836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71" y="200752"/>
            <a:ext cx="406630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DATASOURCES</a:t>
            </a:r>
            <a:endParaRPr kumimoji="0" lang="de-CH" altLang="de-DE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08C8E2-4DAE-454F-80B8-D83197D99E3A}"/>
              </a:ext>
            </a:extLst>
          </p:cNvPr>
          <p:cNvSpPr/>
          <p:nvPr/>
        </p:nvSpPr>
        <p:spPr>
          <a:xfrm>
            <a:off x="25572" y="1409700"/>
            <a:ext cx="2457450" cy="683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28408-A15B-43E6-A932-A0074330C588}"/>
              </a:ext>
            </a:extLst>
          </p:cNvPr>
          <p:cNvSpPr txBox="1"/>
          <p:nvPr/>
        </p:nvSpPr>
        <p:spPr>
          <a:xfrm>
            <a:off x="-41104" y="1095375"/>
            <a:ext cx="136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Government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62932-E240-4AC4-BDC3-73E14133493C}"/>
              </a:ext>
            </a:extLst>
          </p:cNvPr>
          <p:cNvSpPr/>
          <p:nvPr/>
        </p:nvSpPr>
        <p:spPr>
          <a:xfrm>
            <a:off x="25572" y="2428399"/>
            <a:ext cx="2457450" cy="1362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54CEB-4FDD-41E7-ABEF-8392CE912576}"/>
              </a:ext>
            </a:extLst>
          </p:cNvPr>
          <p:cNvSpPr txBox="1"/>
          <p:nvPr/>
        </p:nvSpPr>
        <p:spPr>
          <a:xfrm>
            <a:off x="-41104" y="2114074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Companies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0F885-97C1-4CAF-8EE6-A3BA39EC26D5}"/>
              </a:ext>
            </a:extLst>
          </p:cNvPr>
          <p:cNvSpPr/>
          <p:nvPr/>
        </p:nvSpPr>
        <p:spPr>
          <a:xfrm>
            <a:off x="25572" y="4191595"/>
            <a:ext cx="2457450" cy="683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9A9A0-B8B9-4C0D-BC67-8DE1717D7769}"/>
              </a:ext>
            </a:extLst>
          </p:cNvPr>
          <p:cNvSpPr txBox="1"/>
          <p:nvPr/>
        </p:nvSpPr>
        <p:spPr>
          <a:xfrm>
            <a:off x="-41104" y="3877270"/>
            <a:ext cx="273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International </a:t>
            </a:r>
            <a:r>
              <a:rPr lang="de-CH" dirty="0" err="1"/>
              <a:t>Organizations</a:t>
            </a:r>
            <a:endParaRPr lang="de-CH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B29B96-9CE0-4459-A983-201E4BEC1DCC}"/>
              </a:ext>
            </a:extLst>
          </p:cNvPr>
          <p:cNvSpPr/>
          <p:nvPr/>
        </p:nvSpPr>
        <p:spPr>
          <a:xfrm>
            <a:off x="25572" y="5276373"/>
            <a:ext cx="2457450" cy="569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2CB355-4929-4839-A8C4-1AC640E3E216}"/>
              </a:ext>
            </a:extLst>
          </p:cNvPr>
          <p:cNvSpPr txBox="1"/>
          <p:nvPr/>
        </p:nvSpPr>
        <p:spPr>
          <a:xfrm>
            <a:off x="-41104" y="4962048"/>
            <a:ext cx="11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Academia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562C1A-7CBF-4F4C-937F-6F6511DFEAE8}"/>
              </a:ext>
            </a:extLst>
          </p:cNvPr>
          <p:cNvSpPr txBox="1"/>
          <p:nvPr/>
        </p:nvSpPr>
        <p:spPr>
          <a:xfrm>
            <a:off x="295271" y="5376376"/>
            <a:ext cx="203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Geo-Data (</a:t>
            </a:r>
            <a:r>
              <a:rPr lang="de-CH" dirty="0" err="1"/>
              <a:t>UCDavis</a:t>
            </a:r>
            <a:r>
              <a:rPr lang="de-CH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CFF6C-BBD6-4231-A242-33C75D4746F4}"/>
              </a:ext>
            </a:extLst>
          </p:cNvPr>
          <p:cNvSpPr txBox="1"/>
          <p:nvPr/>
        </p:nvSpPr>
        <p:spPr>
          <a:xfrm>
            <a:off x="323662" y="2570202"/>
            <a:ext cx="132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Azurepower</a:t>
            </a:r>
            <a:endParaRPr lang="de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28765-A19A-4836-BF9F-5F34CB255107}"/>
              </a:ext>
            </a:extLst>
          </p:cNvPr>
          <p:cNvSpPr txBox="1"/>
          <p:nvPr/>
        </p:nvSpPr>
        <p:spPr>
          <a:xfrm>
            <a:off x="323662" y="2939534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renew</a:t>
            </a:r>
            <a:endParaRPr lang="de-C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51E68-4835-4532-8BE9-79CFEBC5CE9D}"/>
              </a:ext>
            </a:extLst>
          </p:cNvPr>
          <p:cNvSpPr txBox="1"/>
          <p:nvPr/>
        </p:nvSpPr>
        <p:spPr>
          <a:xfrm>
            <a:off x="295271" y="3322201"/>
            <a:ext cx="1153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tatapower</a:t>
            </a:r>
            <a:endParaRPr lang="de-C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57A8A-D0CA-4225-9494-2D252021D8A6}"/>
              </a:ext>
            </a:extLst>
          </p:cNvPr>
          <p:cNvSpPr txBox="1"/>
          <p:nvPr/>
        </p:nvSpPr>
        <p:spPr>
          <a:xfrm>
            <a:off x="187952" y="1487567"/>
            <a:ext cx="89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tenders</a:t>
            </a:r>
            <a:endParaRPr lang="de-C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96791-4976-4472-BC08-C51847D03FC0}"/>
              </a:ext>
            </a:extLst>
          </p:cNvPr>
          <p:cNvSpPr txBox="1"/>
          <p:nvPr/>
        </p:nvSpPr>
        <p:spPr>
          <a:xfrm>
            <a:off x="732610" y="643594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Online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EBD66C-A299-40C5-9D0E-64158C5FBBE8}"/>
              </a:ext>
            </a:extLst>
          </p:cNvPr>
          <p:cNvSpPr txBox="1"/>
          <p:nvPr/>
        </p:nvSpPr>
        <p:spPr>
          <a:xfrm>
            <a:off x="4244277" y="6489399"/>
            <a:ext cx="104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/>
              <a:t>RawData</a:t>
            </a:r>
            <a:endParaRPr lang="de-CH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24402C-FBEA-468B-B482-4914058FEF59}"/>
              </a:ext>
            </a:extLst>
          </p:cNvPr>
          <p:cNvSpPr/>
          <p:nvPr/>
        </p:nvSpPr>
        <p:spPr>
          <a:xfrm>
            <a:off x="2947005" y="2911299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088CBC-55CA-4974-A85D-0051A159E844}"/>
              </a:ext>
            </a:extLst>
          </p:cNvPr>
          <p:cNvSpPr/>
          <p:nvPr/>
        </p:nvSpPr>
        <p:spPr>
          <a:xfrm>
            <a:off x="2947007" y="1560194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027868-4391-4AAB-B422-09B4DAE4CDBA}"/>
              </a:ext>
            </a:extLst>
          </p:cNvPr>
          <p:cNvSpPr/>
          <p:nvPr/>
        </p:nvSpPr>
        <p:spPr>
          <a:xfrm>
            <a:off x="2947006" y="4346853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1C9089-2F59-4E00-8FE0-A34909103EA4}"/>
              </a:ext>
            </a:extLst>
          </p:cNvPr>
          <p:cNvSpPr/>
          <p:nvPr/>
        </p:nvSpPr>
        <p:spPr>
          <a:xfrm>
            <a:off x="2947007" y="5376376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965C68-418E-46F4-BBC5-57742D899805}"/>
              </a:ext>
            </a:extLst>
          </p:cNvPr>
          <p:cNvCxnSpPr>
            <a:stCxn id="2" idx="3"/>
            <a:endCxn id="20" idx="2"/>
          </p:cNvCxnSpPr>
          <p:nvPr/>
        </p:nvCxnSpPr>
        <p:spPr>
          <a:xfrm flipV="1">
            <a:off x="2483022" y="1751528"/>
            <a:ext cx="4639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9B9334-341E-49C9-9D38-7C1F8A54DB0E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2483022" y="3102633"/>
            <a:ext cx="463983" cy="6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98837A-CECB-4DA4-8600-5E2BE5EFC9BC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>
            <a:off x="2483022" y="4533424"/>
            <a:ext cx="463984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31952E-BA49-4B3B-8DA1-B73D5CEE7289}"/>
              </a:ext>
            </a:extLst>
          </p:cNvPr>
          <p:cNvCxnSpPr>
            <a:cxnSpLocks/>
            <a:stCxn id="9" idx="3"/>
            <a:endCxn id="22" idx="2"/>
          </p:cNvCxnSpPr>
          <p:nvPr/>
        </p:nvCxnSpPr>
        <p:spPr>
          <a:xfrm>
            <a:off x="2483022" y="5561043"/>
            <a:ext cx="463985" cy="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6E8ADA9-E0BC-4881-A259-338F93FB52CA}"/>
              </a:ext>
            </a:extLst>
          </p:cNvPr>
          <p:cNvSpPr txBox="1"/>
          <p:nvPr/>
        </p:nvSpPr>
        <p:spPr>
          <a:xfrm>
            <a:off x="7225602" y="6488668"/>
            <a:ext cx="159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/>
              <a:t>ProcessedData</a:t>
            </a:r>
            <a:endParaRPr lang="de-CH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9C2C28-2EF9-42E2-AFEB-1417D7283B3C}"/>
              </a:ext>
            </a:extLst>
          </p:cNvPr>
          <p:cNvSpPr txBox="1"/>
          <p:nvPr/>
        </p:nvSpPr>
        <p:spPr>
          <a:xfrm>
            <a:off x="10171440" y="6488668"/>
            <a:ext cx="10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Database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E99775-D76D-4DFF-91B2-7B15D4AAFC37}"/>
              </a:ext>
            </a:extLst>
          </p:cNvPr>
          <p:cNvSpPr txBox="1"/>
          <p:nvPr/>
        </p:nvSpPr>
        <p:spPr>
          <a:xfrm rot="16200000">
            <a:off x="2657619" y="6095266"/>
            <a:ext cx="97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Scrapers</a:t>
            </a:r>
            <a:endParaRPr lang="de-C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48B4E52-51A6-4B22-81FE-5E58D842B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324" y="4958852"/>
            <a:ext cx="1356818" cy="13568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4BEEEAC-214B-469A-AAC5-CF5BFEE44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707" y="4759879"/>
            <a:ext cx="675435" cy="69626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892F8D-486E-43BE-B384-29EFCD04977F}"/>
              </a:ext>
            </a:extLst>
          </p:cNvPr>
          <p:cNvSpPr txBox="1"/>
          <p:nvPr/>
        </p:nvSpPr>
        <p:spPr>
          <a:xfrm rot="21433965">
            <a:off x="6440748" y="72359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Selenium</a:t>
            </a:r>
            <a:endParaRPr lang="de-CH" dirty="0"/>
          </a:p>
          <a:p>
            <a:r>
              <a:rPr lang="de-CH" dirty="0"/>
              <a:t>Chrome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26D579-B1C0-474F-9915-63E1F400AD9E}"/>
              </a:ext>
            </a:extLst>
          </p:cNvPr>
          <p:cNvSpPr txBox="1"/>
          <p:nvPr/>
        </p:nvSpPr>
        <p:spPr>
          <a:xfrm rot="21433965">
            <a:off x="10613388" y="4245678"/>
            <a:ext cx="1245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PostgreSQL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BE02B61-55DC-4BCD-93B0-863B97B85231}"/>
              </a:ext>
            </a:extLst>
          </p:cNvPr>
          <p:cNvSpPr/>
          <p:nvPr/>
        </p:nvSpPr>
        <p:spPr>
          <a:xfrm>
            <a:off x="9177338" y="5445927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74C2E0-9528-420B-98C5-7E418B0CC5CB}"/>
              </a:ext>
            </a:extLst>
          </p:cNvPr>
          <p:cNvCxnSpPr>
            <a:cxnSpLocks/>
            <a:stCxn id="51" idx="6"/>
            <a:endCxn id="45" idx="1"/>
          </p:cNvCxnSpPr>
          <p:nvPr/>
        </p:nvCxnSpPr>
        <p:spPr>
          <a:xfrm>
            <a:off x="9561341" y="5637261"/>
            <a:ext cx="463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3BEB1B66-9005-4AA2-BC7D-3481CA7007AF}"/>
              </a:ext>
            </a:extLst>
          </p:cNvPr>
          <p:cNvSpPr/>
          <p:nvPr/>
        </p:nvSpPr>
        <p:spPr>
          <a:xfrm>
            <a:off x="6183640" y="2741533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82F039-66CB-4E29-8752-F6B1A7A72E95}"/>
              </a:ext>
            </a:extLst>
          </p:cNvPr>
          <p:cNvSpPr txBox="1"/>
          <p:nvPr/>
        </p:nvSpPr>
        <p:spPr>
          <a:xfrm rot="21433965">
            <a:off x="7202592" y="747116"/>
            <a:ext cx="85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Python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DFEB928-3216-4169-86EA-00275512AB74}"/>
              </a:ext>
            </a:extLst>
          </p:cNvPr>
          <p:cNvSpPr/>
          <p:nvPr/>
        </p:nvSpPr>
        <p:spPr>
          <a:xfrm>
            <a:off x="-47625" y="1095375"/>
            <a:ext cx="2753245" cy="53405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8BBDCDB-DFC0-4899-8B7B-96986B61FDBD}"/>
              </a:ext>
            </a:extLst>
          </p:cNvPr>
          <p:cNvSpPr/>
          <p:nvPr/>
        </p:nvSpPr>
        <p:spPr>
          <a:xfrm>
            <a:off x="6188619" y="4262188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D08E03-8FA9-4FCE-BEA3-DABC4A6EDDC4}"/>
              </a:ext>
            </a:extLst>
          </p:cNvPr>
          <p:cNvSpPr/>
          <p:nvPr/>
        </p:nvSpPr>
        <p:spPr>
          <a:xfrm>
            <a:off x="6687360" y="1120190"/>
            <a:ext cx="2339166" cy="53405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4416D2C-2FEA-4538-B24D-27DACA5FF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301" y="747244"/>
            <a:ext cx="696262" cy="696262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D499E57A-C6A7-48D2-A9D1-737E0F17D428}"/>
              </a:ext>
            </a:extLst>
          </p:cNvPr>
          <p:cNvSpPr/>
          <p:nvPr/>
        </p:nvSpPr>
        <p:spPr>
          <a:xfrm>
            <a:off x="9141264" y="2697570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57F8866-E84E-4701-9272-CAA7ED7C6E1A}"/>
              </a:ext>
            </a:extLst>
          </p:cNvPr>
          <p:cNvSpPr/>
          <p:nvPr/>
        </p:nvSpPr>
        <p:spPr>
          <a:xfrm>
            <a:off x="10413196" y="3322201"/>
            <a:ext cx="384003" cy="3826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8752445-C6FC-4C2D-823E-EC0B12137B64}"/>
              </a:ext>
            </a:extLst>
          </p:cNvPr>
          <p:cNvCxnSpPr>
            <a:cxnSpLocks/>
            <a:stCxn id="50" idx="1"/>
            <a:endCxn id="65" idx="4"/>
          </p:cNvCxnSpPr>
          <p:nvPr/>
        </p:nvCxnSpPr>
        <p:spPr>
          <a:xfrm flipH="1" flipV="1">
            <a:off x="10605198" y="3704868"/>
            <a:ext cx="8916" cy="755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F28C591-752B-43F6-918A-5823E724C71A}"/>
              </a:ext>
            </a:extLst>
          </p:cNvPr>
          <p:cNvCxnSpPr>
            <a:cxnSpLocks/>
            <a:stCxn id="64" idx="6"/>
          </p:cNvCxnSpPr>
          <p:nvPr/>
        </p:nvCxnSpPr>
        <p:spPr>
          <a:xfrm flipV="1">
            <a:off x="9525267" y="2463935"/>
            <a:ext cx="500057" cy="4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85BE763E-7F01-4432-AED7-B339F21A6841}"/>
              </a:ext>
            </a:extLst>
          </p:cNvPr>
          <p:cNvSpPr/>
          <p:nvPr/>
        </p:nvSpPr>
        <p:spPr>
          <a:xfrm>
            <a:off x="9179709" y="1095373"/>
            <a:ext cx="2824339" cy="133098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424C64-8A18-43DA-8B53-15ACF8A0939B}"/>
              </a:ext>
            </a:extLst>
          </p:cNvPr>
          <p:cNvSpPr txBox="1"/>
          <p:nvPr/>
        </p:nvSpPr>
        <p:spPr>
          <a:xfrm>
            <a:off x="10059584" y="668529"/>
            <a:ext cx="1401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/>
              <a:t>Visualization</a:t>
            </a:r>
            <a:endParaRPr lang="de-CH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FD7300A-81CE-456B-A888-8F5826F3EE4E}"/>
              </a:ext>
            </a:extLst>
          </p:cNvPr>
          <p:cNvCxnSpPr>
            <a:cxnSpLocks/>
            <a:stCxn id="65" idx="0"/>
            <a:endCxn id="72" idx="2"/>
          </p:cNvCxnSpPr>
          <p:nvPr/>
        </p:nvCxnSpPr>
        <p:spPr>
          <a:xfrm flipH="1" flipV="1">
            <a:off x="10591879" y="2426356"/>
            <a:ext cx="13319" cy="89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79B2CDE4-9028-47EB-998B-703CBF515C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7446" y="1010471"/>
            <a:ext cx="2653335" cy="144860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1011012-DECE-4E86-88B7-A78883B6E0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889" y="38049"/>
            <a:ext cx="1081452" cy="63296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6BFE71-80AC-494E-85D4-F39F74B438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788" y="151963"/>
            <a:ext cx="1497739" cy="51244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AE23BBE3-843F-4FD2-92C4-24855B47BF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518" y="408183"/>
            <a:ext cx="393022" cy="393022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792D895E-16AA-4ECD-AA8C-54C768871F3A}"/>
              </a:ext>
            </a:extLst>
          </p:cNvPr>
          <p:cNvSpPr/>
          <p:nvPr/>
        </p:nvSpPr>
        <p:spPr>
          <a:xfrm>
            <a:off x="9664882" y="3969097"/>
            <a:ext cx="2339166" cy="25019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8C28A-8AF0-4F74-8F80-7DFE3F26DDA6}"/>
              </a:ext>
            </a:extLst>
          </p:cNvPr>
          <p:cNvSpPr/>
          <p:nvPr/>
        </p:nvSpPr>
        <p:spPr>
          <a:xfrm>
            <a:off x="118659" y="4271765"/>
            <a:ext cx="1320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1200" dirty="0" err="1"/>
              <a:t>Statistic</a:t>
            </a:r>
            <a:r>
              <a:rPr lang="de-CH" sz="1200" dirty="0"/>
              <a:t> Times</a:t>
            </a:r>
            <a:br>
              <a:rPr lang="de-CH" sz="1200" dirty="0"/>
            </a:br>
            <a:r>
              <a:rPr lang="de-CH" sz="1200" dirty="0"/>
              <a:t>INCED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973681-C79F-408C-8B78-B559E7D4B5D3}"/>
              </a:ext>
            </a:extLst>
          </p:cNvPr>
          <p:cNvSpPr txBox="1"/>
          <p:nvPr/>
        </p:nvSpPr>
        <p:spPr>
          <a:xfrm>
            <a:off x="3923386" y="156276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Html_files</a:t>
            </a:r>
            <a:endParaRPr lang="de-CH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2DEE84-9E18-4828-919F-7CDB40AEBB64}"/>
              </a:ext>
            </a:extLst>
          </p:cNvPr>
          <p:cNvSpPr txBox="1"/>
          <p:nvPr/>
        </p:nvSpPr>
        <p:spPr>
          <a:xfrm>
            <a:off x="3967036" y="1800889"/>
            <a:ext cx="986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i="1" dirty="0" err="1"/>
              <a:t>Csv_files</a:t>
            </a:r>
            <a:endParaRPr lang="de-CH" i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326C4A-DB77-4C2B-A7FF-C41518AD5296}"/>
              </a:ext>
            </a:extLst>
          </p:cNvPr>
          <p:cNvSpPr txBox="1"/>
          <p:nvPr/>
        </p:nvSpPr>
        <p:spPr>
          <a:xfrm>
            <a:off x="4049783" y="2725698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Html_files</a:t>
            </a:r>
            <a:endParaRPr lang="de-CH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2AEB53-4E22-40A1-BE45-887D9D439445}"/>
              </a:ext>
            </a:extLst>
          </p:cNvPr>
          <p:cNvSpPr txBox="1"/>
          <p:nvPr/>
        </p:nvSpPr>
        <p:spPr>
          <a:xfrm>
            <a:off x="4093433" y="2963824"/>
            <a:ext cx="986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i="1" dirty="0" err="1"/>
              <a:t>Csv_files</a:t>
            </a:r>
            <a:endParaRPr lang="de-CH" i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732659-9B7D-44A4-8273-F8FD9C3327F7}"/>
              </a:ext>
            </a:extLst>
          </p:cNvPr>
          <p:cNvSpPr txBox="1"/>
          <p:nvPr/>
        </p:nvSpPr>
        <p:spPr>
          <a:xfrm>
            <a:off x="4101227" y="418297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Html_files</a:t>
            </a:r>
            <a:endParaRPr lang="de-CH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D15625-025B-430C-9C17-4D660BFD0964}"/>
              </a:ext>
            </a:extLst>
          </p:cNvPr>
          <p:cNvSpPr txBox="1"/>
          <p:nvPr/>
        </p:nvSpPr>
        <p:spPr>
          <a:xfrm>
            <a:off x="3516899" y="4493769"/>
            <a:ext cx="149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i="1" dirty="0"/>
              <a:t>JPGs </a:t>
            </a:r>
            <a:r>
              <a:rPr lang="de-CH" i="1" dirty="0" err="1"/>
              <a:t>of</a:t>
            </a:r>
            <a:r>
              <a:rPr lang="de-CH" i="1" dirty="0"/>
              <a:t> </a:t>
            </a:r>
            <a:r>
              <a:rPr lang="de-CH" i="1" dirty="0" err="1"/>
              <a:t>Tables</a:t>
            </a:r>
            <a:endParaRPr lang="de-CH" i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584F5C-2EBC-4CFB-9853-5669D321423C}"/>
              </a:ext>
            </a:extLst>
          </p:cNvPr>
          <p:cNvSpPr txBox="1"/>
          <p:nvPr/>
        </p:nvSpPr>
        <p:spPr>
          <a:xfrm>
            <a:off x="3791782" y="5404474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Geo</a:t>
            </a:r>
            <a:r>
              <a:rPr lang="de-CH" dirty="0"/>
              <a:t> JSON Files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A12E35-6A6C-4A0F-B080-71A2B1ABD09E}"/>
              </a:ext>
            </a:extLst>
          </p:cNvPr>
          <p:cNvSpPr txBox="1"/>
          <p:nvPr/>
        </p:nvSpPr>
        <p:spPr>
          <a:xfrm>
            <a:off x="5208576" y="4486702"/>
            <a:ext cx="649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i="1" dirty="0"/>
              <a:t>Excel</a:t>
            </a:r>
          </a:p>
        </p:txBody>
      </p:sp>
      <p:pic>
        <p:nvPicPr>
          <p:cNvPr id="1026" name="Picture 2" descr="Datei:Microsoft Office Excel (2019–present).svg – Wikipedia">
            <a:hlinkClick r:id="rId10"/>
            <a:extLst>
              <a:ext uri="{FF2B5EF4-FFF2-40B4-BE49-F238E27FC236}">
                <a16:creationId xmlns:a16="http://schemas.microsoft.com/office/drawing/2014/main" id="{4729707E-F5BD-4F98-A07B-07BF0B89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891" y="6106480"/>
            <a:ext cx="777860" cy="72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BB948E-446A-41FD-A1B4-327456CA9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9065" y="6088896"/>
            <a:ext cx="1286037" cy="1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8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71" y="200752"/>
            <a:ext cx="372486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DATAMODELS</a:t>
            </a:r>
            <a:endParaRPr kumimoji="0" lang="de-CH" altLang="de-DE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5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71" y="-107024"/>
            <a:ext cx="10636245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PIPELINE FOR SCRAPING /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altLang="de-DE" sz="4000" b="1" dirty="0">
                <a:latin typeface="Arial" panose="020B0604020202020204" pitchFamily="34" charset="0"/>
              </a:rPr>
              <a:t>AGENTIC AI?</a:t>
            </a:r>
            <a:endParaRPr kumimoji="0" lang="de-CH" altLang="de-DE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48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3D6B3A-1E47-4A30-8332-F249295047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84F5A7-AB1C-4142-9533-07AF62B0F607}"/>
              </a:ext>
            </a:extLst>
          </p:cNvPr>
          <p:cNvSpPr txBox="1"/>
          <p:nvPr/>
        </p:nvSpPr>
        <p:spPr>
          <a:xfrm>
            <a:off x="4074625" y="2875002"/>
            <a:ext cx="46038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6600" b="1" dirty="0">
                <a:solidFill>
                  <a:schemeClr val="bg1"/>
                </a:solidFill>
              </a:rPr>
              <a:t>UI &amp; DESIGN</a:t>
            </a:r>
          </a:p>
        </p:txBody>
      </p:sp>
    </p:spTree>
    <p:extLst>
      <p:ext uri="{BB962C8B-B14F-4D97-AF65-F5344CB8AC3E}">
        <p14:creationId xmlns:p14="http://schemas.microsoft.com/office/powerpoint/2010/main" val="154249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7696D0-2D07-48F0-BF7B-F75475D42D9E}"/>
              </a:ext>
            </a:extLst>
          </p:cNvPr>
          <p:cNvSpPr/>
          <p:nvPr/>
        </p:nvSpPr>
        <p:spPr>
          <a:xfrm>
            <a:off x="764651" y="564543"/>
            <a:ext cx="10880584" cy="834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3D9A-A3FB-451A-AE2F-047FE63E1639}"/>
              </a:ext>
            </a:extLst>
          </p:cNvPr>
          <p:cNvSpPr/>
          <p:nvPr/>
        </p:nvSpPr>
        <p:spPr>
          <a:xfrm>
            <a:off x="764651" y="1399431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1BEC3-6550-4465-8BD1-E0977A5C0E03}"/>
              </a:ext>
            </a:extLst>
          </p:cNvPr>
          <p:cNvSpPr/>
          <p:nvPr/>
        </p:nvSpPr>
        <p:spPr>
          <a:xfrm>
            <a:off x="3347500" y="1399430"/>
            <a:ext cx="3477370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2697C-105E-469B-8FEC-31EA635C46CC}"/>
              </a:ext>
            </a:extLst>
          </p:cNvPr>
          <p:cNvSpPr/>
          <p:nvPr/>
        </p:nvSpPr>
        <p:spPr>
          <a:xfrm>
            <a:off x="9062386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3E18-0C08-4337-B106-0D2A628A6C32}"/>
              </a:ext>
            </a:extLst>
          </p:cNvPr>
          <p:cNvSpPr txBox="1"/>
          <p:nvPr/>
        </p:nvSpPr>
        <p:spPr>
          <a:xfrm>
            <a:off x="1141307" y="1316344"/>
            <a:ext cx="187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Projects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69C21-9586-4C09-BC0F-A0053AF0D575}"/>
              </a:ext>
            </a:extLst>
          </p:cNvPr>
          <p:cNvSpPr txBox="1"/>
          <p:nvPr/>
        </p:nvSpPr>
        <p:spPr>
          <a:xfrm>
            <a:off x="3592025" y="1357887"/>
            <a:ext cx="2427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Solar Information Portal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0CE69-5A06-43A4-BA9C-D55296D90252}"/>
              </a:ext>
            </a:extLst>
          </p:cNvPr>
          <p:cNvSpPr txBox="1"/>
          <p:nvPr/>
        </p:nvSpPr>
        <p:spPr>
          <a:xfrm>
            <a:off x="9460456" y="1346363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Tender Navigator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C86E9-6B04-43CE-9A50-9A788A0D8F43}"/>
              </a:ext>
            </a:extLst>
          </p:cNvPr>
          <p:cNvSpPr txBox="1"/>
          <p:nvPr/>
        </p:nvSpPr>
        <p:spPr>
          <a:xfrm>
            <a:off x="608276" y="2192774"/>
            <a:ext cx="54784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u="sng" dirty="0"/>
              <a:t>Users /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Planners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Government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Commercial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dirty="0" err="1"/>
              <a:t>Suppliers</a:t>
            </a:r>
            <a:r>
              <a:rPr lang="de-CH" dirty="0"/>
              <a:t>: </a:t>
            </a:r>
            <a:r>
              <a:rPr lang="de-CH" dirty="0" err="1"/>
              <a:t>Manufacturers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Solar Panels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dirty="0" err="1"/>
              <a:t>Competitors</a:t>
            </a:r>
            <a:r>
              <a:rPr lang="de-CH" dirty="0"/>
              <a:t>: Operating </a:t>
            </a:r>
            <a:r>
              <a:rPr lang="de-CH" dirty="0" err="1"/>
              <a:t>Companys</a:t>
            </a:r>
            <a:endParaRPr lang="de-CH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CH" dirty="0"/>
              <a:t>Search for </a:t>
            </a:r>
            <a:r>
              <a:rPr lang="de-CH" dirty="0" err="1"/>
              <a:t>tenders</a:t>
            </a:r>
            <a:endParaRPr lang="de-CH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CH" dirty="0"/>
              <a:t>Search for </a:t>
            </a:r>
            <a:r>
              <a:rPr lang="de-CH" dirty="0" err="1"/>
              <a:t>opportunities</a:t>
            </a:r>
            <a:endParaRPr lang="de-CH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dirty="0"/>
              <a:t>Customer: Energy / Grid Companies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C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5F033-DA63-4D73-AF24-1E6CD22C017E}"/>
              </a:ext>
            </a:extLst>
          </p:cNvPr>
          <p:cNvSpPr txBox="1"/>
          <p:nvPr/>
        </p:nvSpPr>
        <p:spPr>
          <a:xfrm>
            <a:off x="5929024" y="2234316"/>
            <a:ext cx="61172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u="sng" dirty="0"/>
              <a:t>Users /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Competition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Where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current</a:t>
            </a:r>
            <a:r>
              <a:rPr lang="de-CH" dirty="0"/>
              <a:t> </a:t>
            </a:r>
            <a:r>
              <a:rPr lang="de-CH" dirty="0" err="1"/>
              <a:t>projects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Opportunities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Where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potential </a:t>
            </a:r>
            <a:r>
              <a:rPr lang="de-CH" dirty="0" err="1"/>
              <a:t>tenders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the solar potential </a:t>
            </a:r>
            <a:r>
              <a:rPr lang="de-CH" dirty="0" err="1"/>
              <a:t>weather</a:t>
            </a:r>
            <a:r>
              <a:rPr lang="de-CH" dirty="0"/>
              <a:t> / </a:t>
            </a:r>
            <a:r>
              <a:rPr lang="de-CH" dirty="0" err="1"/>
              <a:t>climate</a:t>
            </a:r>
            <a:r>
              <a:rPr lang="de-CH" dirty="0"/>
              <a:t> </a:t>
            </a:r>
            <a:r>
              <a:rPr lang="de-CH" dirty="0" err="1"/>
              <a:t>conditions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the </a:t>
            </a:r>
            <a:r>
              <a:rPr lang="de-CH" dirty="0" err="1"/>
              <a:t>market</a:t>
            </a:r>
            <a:r>
              <a:rPr lang="de-CH" dirty="0"/>
              <a:t> potential</a:t>
            </a:r>
            <a:br>
              <a:rPr lang="de-CH" dirty="0"/>
            </a:br>
            <a:r>
              <a:rPr lang="de-CH" dirty="0"/>
              <a:t>(</a:t>
            </a:r>
            <a:r>
              <a:rPr lang="de-CH" dirty="0" err="1"/>
              <a:t>demand</a:t>
            </a:r>
            <a:r>
              <a:rPr lang="de-CH" dirty="0"/>
              <a:t> in the </a:t>
            </a:r>
            <a:r>
              <a:rPr lang="de-CH" dirty="0" err="1"/>
              <a:t>areas</a:t>
            </a:r>
            <a:r>
              <a:rPr lang="de-CH" dirty="0"/>
              <a:t>, </a:t>
            </a:r>
            <a:r>
              <a:rPr lang="de-CH" dirty="0" err="1"/>
              <a:t>energy</a:t>
            </a:r>
            <a:r>
              <a:rPr lang="de-CH" dirty="0"/>
              <a:t> </a:t>
            </a:r>
            <a:r>
              <a:rPr lang="de-CH" dirty="0" err="1"/>
              <a:t>prices</a:t>
            </a:r>
            <a:r>
              <a:rPr lang="de-CH" dirty="0"/>
              <a:t>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Potential </a:t>
            </a:r>
            <a:r>
              <a:rPr lang="de-CH" dirty="0" err="1"/>
              <a:t>customers</a:t>
            </a:r>
            <a:r>
              <a:rPr lang="de-CH" dirty="0"/>
              <a:t> (</a:t>
            </a:r>
            <a:r>
              <a:rPr lang="de-CH" dirty="0" err="1"/>
              <a:t>grid</a:t>
            </a:r>
            <a:r>
              <a:rPr lang="de-CH" dirty="0"/>
              <a:t> </a:t>
            </a:r>
            <a:r>
              <a:rPr lang="de-CH" dirty="0" err="1"/>
              <a:t>companies</a:t>
            </a:r>
            <a:r>
              <a:rPr lang="de-CH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C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0A0B68-4A43-4500-90BB-F57E3EA969CC}"/>
              </a:ext>
            </a:extLst>
          </p:cNvPr>
          <p:cNvSpPr/>
          <p:nvPr/>
        </p:nvSpPr>
        <p:spPr>
          <a:xfrm>
            <a:off x="6774467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778D35-6E70-40B5-A2E6-48277414F2B2}"/>
              </a:ext>
            </a:extLst>
          </p:cNvPr>
          <p:cNvSpPr txBox="1"/>
          <p:nvPr/>
        </p:nvSpPr>
        <p:spPr>
          <a:xfrm>
            <a:off x="7172537" y="1346363"/>
            <a:ext cx="219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Investment Navigator</a:t>
            </a:r>
          </a:p>
        </p:txBody>
      </p:sp>
    </p:spTree>
    <p:extLst>
      <p:ext uri="{BB962C8B-B14F-4D97-AF65-F5344CB8AC3E}">
        <p14:creationId xmlns:p14="http://schemas.microsoft.com/office/powerpoint/2010/main" val="74501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7696D0-2D07-48F0-BF7B-F75475D42D9E}"/>
              </a:ext>
            </a:extLst>
          </p:cNvPr>
          <p:cNvSpPr/>
          <p:nvPr/>
        </p:nvSpPr>
        <p:spPr>
          <a:xfrm>
            <a:off x="764651" y="564543"/>
            <a:ext cx="8643068" cy="834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3D9A-A3FB-451A-AE2F-047FE63E1639}"/>
              </a:ext>
            </a:extLst>
          </p:cNvPr>
          <p:cNvSpPr/>
          <p:nvPr/>
        </p:nvSpPr>
        <p:spPr>
          <a:xfrm>
            <a:off x="764651" y="1399431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1BEC3-6550-4465-8BD1-E0977A5C0E03}"/>
              </a:ext>
            </a:extLst>
          </p:cNvPr>
          <p:cNvSpPr/>
          <p:nvPr/>
        </p:nvSpPr>
        <p:spPr>
          <a:xfrm>
            <a:off x="3347500" y="1399430"/>
            <a:ext cx="3477370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2697C-105E-469B-8FEC-31EA635C46CC}"/>
              </a:ext>
            </a:extLst>
          </p:cNvPr>
          <p:cNvSpPr/>
          <p:nvPr/>
        </p:nvSpPr>
        <p:spPr>
          <a:xfrm>
            <a:off x="6827186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3E18-0C08-4337-B106-0D2A628A6C32}"/>
              </a:ext>
            </a:extLst>
          </p:cNvPr>
          <p:cNvSpPr txBox="1"/>
          <p:nvPr/>
        </p:nvSpPr>
        <p:spPr>
          <a:xfrm>
            <a:off x="1141307" y="1316344"/>
            <a:ext cx="187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Projects </a:t>
            </a:r>
            <a:r>
              <a:rPr lang="de-CH" dirty="0" err="1">
                <a:solidFill>
                  <a:schemeClr val="bg1"/>
                </a:solidFill>
              </a:rPr>
              <a:t>Overview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69C21-9586-4C09-BC0F-A0053AF0D575}"/>
              </a:ext>
            </a:extLst>
          </p:cNvPr>
          <p:cNvSpPr txBox="1"/>
          <p:nvPr/>
        </p:nvSpPr>
        <p:spPr>
          <a:xfrm>
            <a:off x="3592025" y="1357887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Regional Investment Potential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0CE69-5A06-43A4-BA9C-D55296D90252}"/>
              </a:ext>
            </a:extLst>
          </p:cNvPr>
          <p:cNvSpPr txBox="1"/>
          <p:nvPr/>
        </p:nvSpPr>
        <p:spPr>
          <a:xfrm>
            <a:off x="7225256" y="1346363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Tender Navigator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30DA0-CD80-49C5-B003-0F2D4FCE4C15}"/>
              </a:ext>
            </a:extLst>
          </p:cNvPr>
          <p:cNvSpPr/>
          <p:nvPr/>
        </p:nvSpPr>
        <p:spPr>
          <a:xfrm>
            <a:off x="5303520" y="1993991"/>
            <a:ext cx="4104198" cy="410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5C107-B7CC-4D5F-AD89-751C4D9C0BB1}"/>
              </a:ext>
            </a:extLst>
          </p:cNvPr>
          <p:cNvSpPr/>
          <p:nvPr/>
        </p:nvSpPr>
        <p:spPr>
          <a:xfrm>
            <a:off x="764652" y="1993992"/>
            <a:ext cx="2884998" cy="1099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7862D-6DAC-425A-9E21-6F2BF8B33493}"/>
              </a:ext>
            </a:extLst>
          </p:cNvPr>
          <p:cNvSpPr/>
          <p:nvPr/>
        </p:nvSpPr>
        <p:spPr>
          <a:xfrm>
            <a:off x="764652" y="2043484"/>
            <a:ext cx="4467306" cy="970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F5ECF-194A-4D24-AF22-9E96C8847682}"/>
              </a:ext>
            </a:extLst>
          </p:cNvPr>
          <p:cNvSpPr txBox="1"/>
          <p:nvPr/>
        </p:nvSpPr>
        <p:spPr>
          <a:xfrm>
            <a:off x="5686990" y="3860761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24687-B726-41CE-8D41-9F06AD840A45}"/>
              </a:ext>
            </a:extLst>
          </p:cNvPr>
          <p:cNvSpPr txBox="1"/>
          <p:nvPr/>
        </p:nvSpPr>
        <p:spPr>
          <a:xfrm>
            <a:off x="1733206" y="2369893"/>
            <a:ext cx="66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A10A0A-C859-4C95-A71A-390F5566B53D}"/>
              </a:ext>
            </a:extLst>
          </p:cNvPr>
          <p:cNvSpPr/>
          <p:nvPr/>
        </p:nvSpPr>
        <p:spPr>
          <a:xfrm>
            <a:off x="764651" y="3212327"/>
            <a:ext cx="4467305" cy="2884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44AC77-1FDF-46C4-BA97-B867D349BEDE}"/>
              </a:ext>
            </a:extLst>
          </p:cNvPr>
          <p:cNvSpPr txBox="1"/>
          <p:nvPr/>
        </p:nvSpPr>
        <p:spPr>
          <a:xfrm>
            <a:off x="1006566" y="4395243"/>
            <a:ext cx="2401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Bar Chart / Plots</a:t>
            </a:r>
            <a:br>
              <a:rPr lang="de-CH" dirty="0">
                <a:solidFill>
                  <a:schemeClr val="bg1"/>
                </a:solidFill>
              </a:rPr>
            </a:br>
            <a:r>
              <a:rPr lang="de-CH" dirty="0">
                <a:solidFill>
                  <a:schemeClr val="bg1"/>
                </a:solidFill>
              </a:rPr>
              <a:t>About Energy </a:t>
            </a:r>
            <a:r>
              <a:rPr lang="de-CH" dirty="0" err="1">
                <a:solidFill>
                  <a:schemeClr val="bg1"/>
                </a:solidFill>
              </a:rPr>
              <a:t>Produced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EC58FE-0066-4F7D-B145-0A5847343A42}"/>
              </a:ext>
            </a:extLst>
          </p:cNvPr>
          <p:cNvSpPr txBox="1"/>
          <p:nvPr/>
        </p:nvSpPr>
        <p:spPr>
          <a:xfrm>
            <a:off x="7145077" y="4469929"/>
            <a:ext cx="950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Markers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FBE32-7EDC-4C3C-9432-B4B984EB1002}"/>
              </a:ext>
            </a:extLst>
          </p:cNvPr>
          <p:cNvSpPr txBox="1"/>
          <p:nvPr/>
        </p:nvSpPr>
        <p:spPr>
          <a:xfrm>
            <a:off x="7225256" y="5064490"/>
            <a:ext cx="2033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Colors = Companies</a:t>
            </a:r>
          </a:p>
        </p:txBody>
      </p:sp>
    </p:spTree>
    <p:extLst>
      <p:ext uri="{BB962C8B-B14F-4D97-AF65-F5344CB8AC3E}">
        <p14:creationId xmlns:p14="http://schemas.microsoft.com/office/powerpoint/2010/main" val="1254334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7696D0-2D07-48F0-BF7B-F75475D42D9E}"/>
              </a:ext>
            </a:extLst>
          </p:cNvPr>
          <p:cNvSpPr/>
          <p:nvPr/>
        </p:nvSpPr>
        <p:spPr>
          <a:xfrm>
            <a:off x="764651" y="564543"/>
            <a:ext cx="8643068" cy="834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3D9A-A3FB-451A-AE2F-047FE63E1639}"/>
              </a:ext>
            </a:extLst>
          </p:cNvPr>
          <p:cNvSpPr/>
          <p:nvPr/>
        </p:nvSpPr>
        <p:spPr>
          <a:xfrm>
            <a:off x="764651" y="1399431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1BEC3-6550-4465-8BD1-E0977A5C0E03}"/>
              </a:ext>
            </a:extLst>
          </p:cNvPr>
          <p:cNvSpPr/>
          <p:nvPr/>
        </p:nvSpPr>
        <p:spPr>
          <a:xfrm>
            <a:off x="3347500" y="1399430"/>
            <a:ext cx="3477370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2697C-105E-469B-8FEC-31EA635C46CC}"/>
              </a:ext>
            </a:extLst>
          </p:cNvPr>
          <p:cNvSpPr/>
          <p:nvPr/>
        </p:nvSpPr>
        <p:spPr>
          <a:xfrm>
            <a:off x="6827186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3E18-0C08-4337-B106-0D2A628A6C32}"/>
              </a:ext>
            </a:extLst>
          </p:cNvPr>
          <p:cNvSpPr txBox="1"/>
          <p:nvPr/>
        </p:nvSpPr>
        <p:spPr>
          <a:xfrm>
            <a:off x="1141307" y="1316344"/>
            <a:ext cx="187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Projects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69C21-9586-4C09-BC0F-A0053AF0D575}"/>
              </a:ext>
            </a:extLst>
          </p:cNvPr>
          <p:cNvSpPr txBox="1"/>
          <p:nvPr/>
        </p:nvSpPr>
        <p:spPr>
          <a:xfrm>
            <a:off x="3592025" y="1357887"/>
            <a:ext cx="2427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Solar Information Portal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0CE69-5A06-43A4-BA9C-D55296D90252}"/>
              </a:ext>
            </a:extLst>
          </p:cNvPr>
          <p:cNvSpPr txBox="1"/>
          <p:nvPr/>
        </p:nvSpPr>
        <p:spPr>
          <a:xfrm>
            <a:off x="7225256" y="1346363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Tender Navigator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30DA0-CD80-49C5-B003-0F2D4FCE4C15}"/>
              </a:ext>
            </a:extLst>
          </p:cNvPr>
          <p:cNvSpPr/>
          <p:nvPr/>
        </p:nvSpPr>
        <p:spPr>
          <a:xfrm>
            <a:off x="3768918" y="1993991"/>
            <a:ext cx="5638800" cy="410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5C107-B7CC-4D5F-AD89-751C4D9C0BB1}"/>
              </a:ext>
            </a:extLst>
          </p:cNvPr>
          <p:cNvSpPr/>
          <p:nvPr/>
        </p:nvSpPr>
        <p:spPr>
          <a:xfrm>
            <a:off x="764652" y="1993992"/>
            <a:ext cx="2884998" cy="381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7862D-6DAC-425A-9E21-6F2BF8B33493}"/>
              </a:ext>
            </a:extLst>
          </p:cNvPr>
          <p:cNvSpPr/>
          <p:nvPr/>
        </p:nvSpPr>
        <p:spPr>
          <a:xfrm>
            <a:off x="764652" y="2043484"/>
            <a:ext cx="2757776" cy="970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F5ECF-194A-4D24-AF22-9E96C8847682}"/>
              </a:ext>
            </a:extLst>
          </p:cNvPr>
          <p:cNvSpPr txBox="1"/>
          <p:nvPr/>
        </p:nvSpPr>
        <p:spPr>
          <a:xfrm>
            <a:off x="6210691" y="3860761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C0B0C-5E83-4967-984C-A7D80FB3B331}"/>
              </a:ext>
            </a:extLst>
          </p:cNvPr>
          <p:cNvSpPr txBox="1"/>
          <p:nvPr/>
        </p:nvSpPr>
        <p:spPr>
          <a:xfrm>
            <a:off x="7145077" y="4469929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Shapes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AA6523-B878-4414-9676-CE4089785900}"/>
              </a:ext>
            </a:extLst>
          </p:cNvPr>
          <p:cNvSpPr/>
          <p:nvPr/>
        </p:nvSpPr>
        <p:spPr>
          <a:xfrm>
            <a:off x="1178073" y="3943845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31142-5318-481A-A5D3-0C6DB97E23DB}"/>
              </a:ext>
            </a:extLst>
          </p:cNvPr>
          <p:cNvSpPr txBox="1"/>
          <p:nvPr/>
        </p:nvSpPr>
        <p:spPr>
          <a:xfrm>
            <a:off x="1885606" y="2522293"/>
            <a:ext cx="66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24687-B726-41CE-8D41-9F06AD840A45}"/>
              </a:ext>
            </a:extLst>
          </p:cNvPr>
          <p:cNvSpPr txBox="1"/>
          <p:nvPr/>
        </p:nvSpPr>
        <p:spPr>
          <a:xfrm>
            <a:off x="1275655" y="4054246"/>
            <a:ext cx="19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Radiation Sunshine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B8DDA-E6B8-4CD9-BB74-BB1DC6951A70}"/>
              </a:ext>
            </a:extLst>
          </p:cNvPr>
          <p:cNvSpPr/>
          <p:nvPr/>
        </p:nvSpPr>
        <p:spPr>
          <a:xfrm>
            <a:off x="1186047" y="4690351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D902F-B73F-4EFA-945A-944C9446987F}"/>
              </a:ext>
            </a:extLst>
          </p:cNvPr>
          <p:cNvSpPr txBox="1"/>
          <p:nvPr/>
        </p:nvSpPr>
        <p:spPr>
          <a:xfrm>
            <a:off x="1225291" y="4769657"/>
            <a:ext cx="138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solidFill>
                  <a:schemeClr val="bg1"/>
                </a:solidFill>
              </a:rPr>
              <a:t>Temperature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D99DF3-D4E6-4FE1-AB44-C413494C60BE}"/>
              </a:ext>
            </a:extLst>
          </p:cNvPr>
          <p:cNvSpPr/>
          <p:nvPr/>
        </p:nvSpPr>
        <p:spPr>
          <a:xfrm>
            <a:off x="1186047" y="5436857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B7AAB2-FA3F-4880-A6E5-47E1CBC43947}"/>
              </a:ext>
            </a:extLst>
          </p:cNvPr>
          <p:cNvSpPr txBox="1"/>
          <p:nvPr/>
        </p:nvSpPr>
        <p:spPr>
          <a:xfrm>
            <a:off x="1225291" y="5516163"/>
            <a:ext cx="207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Cloud / Air Pollution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CD29B8-6CBF-406D-8A99-75400993DDB7}"/>
              </a:ext>
            </a:extLst>
          </p:cNvPr>
          <p:cNvSpPr/>
          <p:nvPr/>
        </p:nvSpPr>
        <p:spPr>
          <a:xfrm>
            <a:off x="879463" y="3113898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130AA3-3633-488F-ACF8-849C879B4FFE}"/>
              </a:ext>
            </a:extLst>
          </p:cNvPr>
          <p:cNvSpPr/>
          <p:nvPr/>
        </p:nvSpPr>
        <p:spPr>
          <a:xfrm>
            <a:off x="943753" y="3172409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A8247B-FFE4-4126-A2C4-FB2567CF8BB2}"/>
              </a:ext>
            </a:extLst>
          </p:cNvPr>
          <p:cNvSpPr/>
          <p:nvPr/>
        </p:nvSpPr>
        <p:spPr>
          <a:xfrm>
            <a:off x="880789" y="3592301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7979E4-C9D3-4760-923D-FABBA4D1F778}"/>
              </a:ext>
            </a:extLst>
          </p:cNvPr>
          <p:cNvSpPr/>
          <p:nvPr/>
        </p:nvSpPr>
        <p:spPr>
          <a:xfrm>
            <a:off x="945079" y="3650812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0AD2BC-48F3-4893-ABAA-B899448B9F45}"/>
              </a:ext>
            </a:extLst>
          </p:cNvPr>
          <p:cNvSpPr txBox="1"/>
          <p:nvPr/>
        </p:nvSpPr>
        <p:spPr>
          <a:xfrm>
            <a:off x="1280818" y="3611822"/>
            <a:ext cx="1619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Climate </a:t>
            </a:r>
            <a:r>
              <a:rPr lang="de-CH" dirty="0" err="1">
                <a:solidFill>
                  <a:schemeClr val="bg1"/>
                </a:solidFill>
              </a:rPr>
              <a:t>Factors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8E39CB-35AB-49A2-A3AE-47FCE5090D25}"/>
              </a:ext>
            </a:extLst>
          </p:cNvPr>
          <p:cNvSpPr/>
          <p:nvPr/>
        </p:nvSpPr>
        <p:spPr>
          <a:xfrm>
            <a:off x="882115" y="6152267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042BC1-0433-4114-B5BD-313D4D4F9251}"/>
              </a:ext>
            </a:extLst>
          </p:cNvPr>
          <p:cNvSpPr/>
          <p:nvPr/>
        </p:nvSpPr>
        <p:spPr>
          <a:xfrm>
            <a:off x="946405" y="6210778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255B43-E820-401A-9210-B88081A717BB}"/>
              </a:ext>
            </a:extLst>
          </p:cNvPr>
          <p:cNvSpPr txBox="1"/>
          <p:nvPr/>
        </p:nvSpPr>
        <p:spPr>
          <a:xfrm>
            <a:off x="1282144" y="6171788"/>
            <a:ext cx="181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Economic </a:t>
            </a:r>
            <a:r>
              <a:rPr lang="de-CH" dirty="0" err="1">
                <a:solidFill>
                  <a:schemeClr val="bg1"/>
                </a:solidFill>
              </a:rPr>
              <a:t>Factors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36707C-EA42-44F5-8766-3C7F85651EC6}"/>
              </a:ext>
            </a:extLst>
          </p:cNvPr>
          <p:cNvSpPr/>
          <p:nvPr/>
        </p:nvSpPr>
        <p:spPr>
          <a:xfrm>
            <a:off x="1186047" y="6627408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27D457-C24D-44EE-887C-9BCD94F9029A}"/>
              </a:ext>
            </a:extLst>
          </p:cNvPr>
          <p:cNvSpPr txBox="1"/>
          <p:nvPr/>
        </p:nvSpPr>
        <p:spPr>
          <a:xfrm>
            <a:off x="1225291" y="6706714"/>
            <a:ext cx="1431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Energy Prices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6D3C79-6D31-48E9-AFDA-92BDD7E6D8D9}"/>
              </a:ext>
            </a:extLst>
          </p:cNvPr>
          <p:cNvSpPr/>
          <p:nvPr/>
        </p:nvSpPr>
        <p:spPr>
          <a:xfrm>
            <a:off x="1186047" y="7298120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E25DAB-82C0-484C-A8B3-DB50058FDDE8}"/>
              </a:ext>
            </a:extLst>
          </p:cNvPr>
          <p:cNvSpPr txBox="1"/>
          <p:nvPr/>
        </p:nvSpPr>
        <p:spPr>
          <a:xfrm>
            <a:off x="1225291" y="737742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Demand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FDA4F-829B-43C0-989D-3C6D519C8C70}"/>
              </a:ext>
            </a:extLst>
          </p:cNvPr>
          <p:cNvSpPr/>
          <p:nvPr/>
        </p:nvSpPr>
        <p:spPr>
          <a:xfrm>
            <a:off x="1186047" y="7961850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59BEAD-C02F-4586-A50A-D496F586374F}"/>
              </a:ext>
            </a:extLst>
          </p:cNvPr>
          <p:cNvSpPr txBox="1"/>
          <p:nvPr/>
        </p:nvSpPr>
        <p:spPr>
          <a:xfrm>
            <a:off x="1225291" y="8041156"/>
            <a:ext cx="217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Supply / Competition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582861-4E9B-491D-86FF-9054DC4FA66C}"/>
              </a:ext>
            </a:extLst>
          </p:cNvPr>
          <p:cNvSpPr txBox="1"/>
          <p:nvPr/>
        </p:nvSpPr>
        <p:spPr>
          <a:xfrm>
            <a:off x="1333574" y="3104572"/>
            <a:ext cx="159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Potential Score</a:t>
            </a:r>
          </a:p>
        </p:txBody>
      </p:sp>
    </p:spTree>
    <p:extLst>
      <p:ext uri="{BB962C8B-B14F-4D97-AF65-F5344CB8AC3E}">
        <p14:creationId xmlns:p14="http://schemas.microsoft.com/office/powerpoint/2010/main" val="77424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7696D0-2D07-48F0-BF7B-F75475D42D9E}"/>
              </a:ext>
            </a:extLst>
          </p:cNvPr>
          <p:cNvSpPr/>
          <p:nvPr/>
        </p:nvSpPr>
        <p:spPr>
          <a:xfrm>
            <a:off x="764651" y="564543"/>
            <a:ext cx="8643068" cy="834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3D9A-A3FB-451A-AE2F-047FE63E1639}"/>
              </a:ext>
            </a:extLst>
          </p:cNvPr>
          <p:cNvSpPr/>
          <p:nvPr/>
        </p:nvSpPr>
        <p:spPr>
          <a:xfrm>
            <a:off x="764651" y="1399431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1BEC3-6550-4465-8BD1-E0977A5C0E03}"/>
              </a:ext>
            </a:extLst>
          </p:cNvPr>
          <p:cNvSpPr/>
          <p:nvPr/>
        </p:nvSpPr>
        <p:spPr>
          <a:xfrm>
            <a:off x="3347500" y="1399430"/>
            <a:ext cx="3477370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2697C-105E-469B-8FEC-31EA635C46CC}"/>
              </a:ext>
            </a:extLst>
          </p:cNvPr>
          <p:cNvSpPr/>
          <p:nvPr/>
        </p:nvSpPr>
        <p:spPr>
          <a:xfrm>
            <a:off x="6827186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3E18-0C08-4337-B106-0D2A628A6C32}"/>
              </a:ext>
            </a:extLst>
          </p:cNvPr>
          <p:cNvSpPr txBox="1"/>
          <p:nvPr/>
        </p:nvSpPr>
        <p:spPr>
          <a:xfrm>
            <a:off x="1141307" y="1316344"/>
            <a:ext cx="187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Projects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69C21-9586-4C09-BC0F-A0053AF0D575}"/>
              </a:ext>
            </a:extLst>
          </p:cNvPr>
          <p:cNvSpPr txBox="1"/>
          <p:nvPr/>
        </p:nvSpPr>
        <p:spPr>
          <a:xfrm>
            <a:off x="3592025" y="1357887"/>
            <a:ext cx="219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Investment Navigator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0CE69-5A06-43A4-BA9C-D55296D90252}"/>
              </a:ext>
            </a:extLst>
          </p:cNvPr>
          <p:cNvSpPr txBox="1"/>
          <p:nvPr/>
        </p:nvSpPr>
        <p:spPr>
          <a:xfrm>
            <a:off x="7225256" y="1346363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Tender Navigator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30DA0-CD80-49C5-B003-0F2D4FCE4C15}"/>
              </a:ext>
            </a:extLst>
          </p:cNvPr>
          <p:cNvSpPr/>
          <p:nvPr/>
        </p:nvSpPr>
        <p:spPr>
          <a:xfrm>
            <a:off x="3768918" y="1993991"/>
            <a:ext cx="4226072" cy="410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5C107-B7CC-4D5F-AD89-751C4D9C0BB1}"/>
              </a:ext>
            </a:extLst>
          </p:cNvPr>
          <p:cNvSpPr/>
          <p:nvPr/>
        </p:nvSpPr>
        <p:spPr>
          <a:xfrm>
            <a:off x="764652" y="1993992"/>
            <a:ext cx="2884998" cy="381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7862D-6DAC-425A-9E21-6F2BF8B33493}"/>
              </a:ext>
            </a:extLst>
          </p:cNvPr>
          <p:cNvSpPr/>
          <p:nvPr/>
        </p:nvSpPr>
        <p:spPr>
          <a:xfrm>
            <a:off x="764652" y="2043484"/>
            <a:ext cx="2757776" cy="970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F5ECF-194A-4D24-AF22-9E96C8847682}"/>
              </a:ext>
            </a:extLst>
          </p:cNvPr>
          <p:cNvSpPr txBox="1"/>
          <p:nvPr/>
        </p:nvSpPr>
        <p:spPr>
          <a:xfrm>
            <a:off x="6210691" y="3860761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C0B0C-5E83-4967-984C-A7D80FB3B331}"/>
              </a:ext>
            </a:extLst>
          </p:cNvPr>
          <p:cNvSpPr txBox="1"/>
          <p:nvPr/>
        </p:nvSpPr>
        <p:spPr>
          <a:xfrm>
            <a:off x="6525039" y="4474267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Shapes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AA6523-B878-4414-9676-CE4089785900}"/>
              </a:ext>
            </a:extLst>
          </p:cNvPr>
          <p:cNvSpPr/>
          <p:nvPr/>
        </p:nvSpPr>
        <p:spPr>
          <a:xfrm>
            <a:off x="1178073" y="3943845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31142-5318-481A-A5D3-0C6DB97E23DB}"/>
              </a:ext>
            </a:extLst>
          </p:cNvPr>
          <p:cNvSpPr txBox="1"/>
          <p:nvPr/>
        </p:nvSpPr>
        <p:spPr>
          <a:xfrm>
            <a:off x="1885606" y="2522293"/>
            <a:ext cx="66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24687-B726-41CE-8D41-9F06AD840A45}"/>
              </a:ext>
            </a:extLst>
          </p:cNvPr>
          <p:cNvSpPr txBox="1"/>
          <p:nvPr/>
        </p:nvSpPr>
        <p:spPr>
          <a:xfrm>
            <a:off x="1275655" y="4054246"/>
            <a:ext cx="19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Radiation Sunshine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B8DDA-E6B8-4CD9-BB74-BB1DC6951A70}"/>
              </a:ext>
            </a:extLst>
          </p:cNvPr>
          <p:cNvSpPr/>
          <p:nvPr/>
        </p:nvSpPr>
        <p:spPr>
          <a:xfrm>
            <a:off x="1186047" y="4690351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D902F-B73F-4EFA-945A-944C9446987F}"/>
              </a:ext>
            </a:extLst>
          </p:cNvPr>
          <p:cNvSpPr txBox="1"/>
          <p:nvPr/>
        </p:nvSpPr>
        <p:spPr>
          <a:xfrm>
            <a:off x="1225291" y="4769657"/>
            <a:ext cx="138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solidFill>
                  <a:schemeClr val="bg1"/>
                </a:solidFill>
              </a:rPr>
              <a:t>Temperature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D99DF3-D4E6-4FE1-AB44-C413494C60BE}"/>
              </a:ext>
            </a:extLst>
          </p:cNvPr>
          <p:cNvSpPr/>
          <p:nvPr/>
        </p:nvSpPr>
        <p:spPr>
          <a:xfrm>
            <a:off x="1186047" y="5436857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B7AAB2-FA3F-4880-A6E5-47E1CBC43947}"/>
              </a:ext>
            </a:extLst>
          </p:cNvPr>
          <p:cNvSpPr txBox="1"/>
          <p:nvPr/>
        </p:nvSpPr>
        <p:spPr>
          <a:xfrm>
            <a:off x="1225291" y="5516163"/>
            <a:ext cx="207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Cloud / Air Pollution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CD29B8-6CBF-406D-8A99-75400993DDB7}"/>
              </a:ext>
            </a:extLst>
          </p:cNvPr>
          <p:cNvSpPr/>
          <p:nvPr/>
        </p:nvSpPr>
        <p:spPr>
          <a:xfrm>
            <a:off x="879463" y="3113898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130AA3-3633-488F-ACF8-849C879B4FFE}"/>
              </a:ext>
            </a:extLst>
          </p:cNvPr>
          <p:cNvSpPr/>
          <p:nvPr/>
        </p:nvSpPr>
        <p:spPr>
          <a:xfrm>
            <a:off x="943753" y="3172409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A8247B-FFE4-4126-A2C4-FB2567CF8BB2}"/>
              </a:ext>
            </a:extLst>
          </p:cNvPr>
          <p:cNvSpPr/>
          <p:nvPr/>
        </p:nvSpPr>
        <p:spPr>
          <a:xfrm>
            <a:off x="880789" y="3592301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7979E4-C9D3-4760-923D-FABBA4D1F778}"/>
              </a:ext>
            </a:extLst>
          </p:cNvPr>
          <p:cNvSpPr/>
          <p:nvPr/>
        </p:nvSpPr>
        <p:spPr>
          <a:xfrm>
            <a:off x="945079" y="3650812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0AD2BC-48F3-4893-ABAA-B899448B9F45}"/>
              </a:ext>
            </a:extLst>
          </p:cNvPr>
          <p:cNvSpPr txBox="1"/>
          <p:nvPr/>
        </p:nvSpPr>
        <p:spPr>
          <a:xfrm>
            <a:off x="1280818" y="3611822"/>
            <a:ext cx="1619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Climate </a:t>
            </a:r>
            <a:r>
              <a:rPr lang="de-CH" dirty="0" err="1">
                <a:solidFill>
                  <a:schemeClr val="bg1"/>
                </a:solidFill>
              </a:rPr>
              <a:t>Factors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8E39CB-35AB-49A2-A3AE-47FCE5090D25}"/>
              </a:ext>
            </a:extLst>
          </p:cNvPr>
          <p:cNvSpPr/>
          <p:nvPr/>
        </p:nvSpPr>
        <p:spPr>
          <a:xfrm>
            <a:off x="882115" y="6152267"/>
            <a:ext cx="2404427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042BC1-0433-4114-B5BD-313D4D4F9251}"/>
              </a:ext>
            </a:extLst>
          </p:cNvPr>
          <p:cNvSpPr/>
          <p:nvPr/>
        </p:nvSpPr>
        <p:spPr>
          <a:xfrm>
            <a:off x="946405" y="6210778"/>
            <a:ext cx="337065" cy="279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255B43-E820-401A-9210-B88081A717BB}"/>
              </a:ext>
            </a:extLst>
          </p:cNvPr>
          <p:cNvSpPr txBox="1"/>
          <p:nvPr/>
        </p:nvSpPr>
        <p:spPr>
          <a:xfrm>
            <a:off x="1282144" y="6171788"/>
            <a:ext cx="181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Economic </a:t>
            </a:r>
            <a:r>
              <a:rPr lang="de-CH" dirty="0" err="1">
                <a:solidFill>
                  <a:schemeClr val="bg1"/>
                </a:solidFill>
              </a:rPr>
              <a:t>Factors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36707C-EA42-44F5-8766-3C7F85651EC6}"/>
              </a:ext>
            </a:extLst>
          </p:cNvPr>
          <p:cNvSpPr/>
          <p:nvPr/>
        </p:nvSpPr>
        <p:spPr>
          <a:xfrm>
            <a:off x="1186047" y="6627408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27D457-C24D-44EE-887C-9BCD94F9029A}"/>
              </a:ext>
            </a:extLst>
          </p:cNvPr>
          <p:cNvSpPr txBox="1"/>
          <p:nvPr/>
        </p:nvSpPr>
        <p:spPr>
          <a:xfrm>
            <a:off x="1225291" y="6706714"/>
            <a:ext cx="1431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Energy Prices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6D3C79-6D31-48E9-AFDA-92BDD7E6D8D9}"/>
              </a:ext>
            </a:extLst>
          </p:cNvPr>
          <p:cNvSpPr/>
          <p:nvPr/>
        </p:nvSpPr>
        <p:spPr>
          <a:xfrm>
            <a:off x="1186047" y="7298120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E25DAB-82C0-484C-A8B3-DB50058FDDE8}"/>
              </a:ext>
            </a:extLst>
          </p:cNvPr>
          <p:cNvSpPr txBox="1"/>
          <p:nvPr/>
        </p:nvSpPr>
        <p:spPr>
          <a:xfrm>
            <a:off x="1225291" y="737742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Demand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FDA4F-829B-43C0-989D-3C6D519C8C70}"/>
              </a:ext>
            </a:extLst>
          </p:cNvPr>
          <p:cNvSpPr/>
          <p:nvPr/>
        </p:nvSpPr>
        <p:spPr>
          <a:xfrm>
            <a:off x="1186047" y="7961850"/>
            <a:ext cx="2105816" cy="584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59BEAD-C02F-4586-A50A-D496F586374F}"/>
              </a:ext>
            </a:extLst>
          </p:cNvPr>
          <p:cNvSpPr txBox="1"/>
          <p:nvPr/>
        </p:nvSpPr>
        <p:spPr>
          <a:xfrm>
            <a:off x="1225291" y="8041156"/>
            <a:ext cx="217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Supply / Competition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582861-4E9B-491D-86FF-9054DC4FA66C}"/>
              </a:ext>
            </a:extLst>
          </p:cNvPr>
          <p:cNvSpPr txBox="1"/>
          <p:nvPr/>
        </p:nvSpPr>
        <p:spPr>
          <a:xfrm>
            <a:off x="1333574" y="3104572"/>
            <a:ext cx="159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Potential Score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2308A9-2FA1-44CF-8C8E-BAE5A892C59E}"/>
              </a:ext>
            </a:extLst>
          </p:cNvPr>
          <p:cNvSpPr/>
          <p:nvPr/>
        </p:nvSpPr>
        <p:spPr>
          <a:xfrm>
            <a:off x="8114258" y="1993991"/>
            <a:ext cx="3010942" cy="4158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547F3D-FA88-4941-84F8-878EB11B841A}"/>
              </a:ext>
            </a:extLst>
          </p:cNvPr>
          <p:cNvSpPr txBox="1"/>
          <p:nvPr/>
        </p:nvSpPr>
        <p:spPr>
          <a:xfrm>
            <a:off x="8518928" y="2891625"/>
            <a:ext cx="2232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CALC</a:t>
            </a:r>
          </a:p>
          <a:p>
            <a:endParaRPr lang="de-CH" dirty="0">
              <a:solidFill>
                <a:schemeClr val="bg1"/>
              </a:solidFill>
            </a:endParaRPr>
          </a:p>
          <a:p>
            <a:r>
              <a:rPr lang="de-CH" dirty="0">
                <a:solidFill>
                  <a:schemeClr val="bg1"/>
                </a:solidFill>
              </a:rPr>
              <a:t>COST &amp; BENEFIT BREAKDOWN</a:t>
            </a:r>
          </a:p>
          <a:p>
            <a:endParaRPr lang="de-CH" dirty="0">
              <a:solidFill>
                <a:schemeClr val="bg1"/>
              </a:solidFill>
            </a:endParaRPr>
          </a:p>
          <a:p>
            <a:endParaRPr lang="de-CH" dirty="0">
              <a:solidFill>
                <a:schemeClr val="bg1"/>
              </a:solidFill>
            </a:endParaRPr>
          </a:p>
          <a:p>
            <a:r>
              <a:rPr lang="de-CH" dirty="0">
                <a:solidFill>
                  <a:schemeClr val="bg1"/>
                </a:solidFill>
              </a:rPr>
              <a:t>POTENTIAL PROFIT</a:t>
            </a:r>
          </a:p>
        </p:txBody>
      </p:sp>
    </p:spTree>
    <p:extLst>
      <p:ext uri="{BB962C8B-B14F-4D97-AF65-F5344CB8AC3E}">
        <p14:creationId xmlns:p14="http://schemas.microsoft.com/office/powerpoint/2010/main" val="210445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7696D0-2D07-48F0-BF7B-F75475D42D9E}"/>
              </a:ext>
            </a:extLst>
          </p:cNvPr>
          <p:cNvSpPr/>
          <p:nvPr/>
        </p:nvSpPr>
        <p:spPr>
          <a:xfrm>
            <a:off x="764651" y="564543"/>
            <a:ext cx="8643068" cy="834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3D9A-A3FB-451A-AE2F-047FE63E1639}"/>
              </a:ext>
            </a:extLst>
          </p:cNvPr>
          <p:cNvSpPr/>
          <p:nvPr/>
        </p:nvSpPr>
        <p:spPr>
          <a:xfrm>
            <a:off x="764651" y="1399431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1BEC3-6550-4465-8BD1-E0977A5C0E03}"/>
              </a:ext>
            </a:extLst>
          </p:cNvPr>
          <p:cNvSpPr/>
          <p:nvPr/>
        </p:nvSpPr>
        <p:spPr>
          <a:xfrm>
            <a:off x="3347500" y="1399430"/>
            <a:ext cx="3477370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2697C-105E-469B-8FEC-31EA635C46CC}"/>
              </a:ext>
            </a:extLst>
          </p:cNvPr>
          <p:cNvSpPr/>
          <p:nvPr/>
        </p:nvSpPr>
        <p:spPr>
          <a:xfrm>
            <a:off x="6827186" y="1399430"/>
            <a:ext cx="2582849" cy="286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3E18-0C08-4337-B106-0D2A628A6C32}"/>
              </a:ext>
            </a:extLst>
          </p:cNvPr>
          <p:cNvSpPr txBox="1"/>
          <p:nvPr/>
        </p:nvSpPr>
        <p:spPr>
          <a:xfrm>
            <a:off x="1141307" y="1316344"/>
            <a:ext cx="187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Projects </a:t>
            </a:r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69C21-9586-4C09-BC0F-A0053AF0D575}"/>
              </a:ext>
            </a:extLst>
          </p:cNvPr>
          <p:cNvSpPr txBox="1"/>
          <p:nvPr/>
        </p:nvSpPr>
        <p:spPr>
          <a:xfrm>
            <a:off x="3592025" y="1357887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Regional Investment Potential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0CE69-5A06-43A4-BA9C-D55296D90252}"/>
              </a:ext>
            </a:extLst>
          </p:cNvPr>
          <p:cNvSpPr txBox="1"/>
          <p:nvPr/>
        </p:nvSpPr>
        <p:spPr>
          <a:xfrm>
            <a:off x="7225256" y="1346363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Tender Navigator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30DA0-CD80-49C5-B003-0F2D4FCE4C15}"/>
              </a:ext>
            </a:extLst>
          </p:cNvPr>
          <p:cNvSpPr/>
          <p:nvPr/>
        </p:nvSpPr>
        <p:spPr>
          <a:xfrm>
            <a:off x="3816625" y="1993991"/>
            <a:ext cx="5591093" cy="410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5C107-B7CC-4D5F-AD89-751C4D9C0BB1}"/>
              </a:ext>
            </a:extLst>
          </p:cNvPr>
          <p:cNvSpPr/>
          <p:nvPr/>
        </p:nvSpPr>
        <p:spPr>
          <a:xfrm>
            <a:off x="764652" y="1993991"/>
            <a:ext cx="2884998" cy="410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7862D-6DAC-425A-9E21-6F2BF8B33493}"/>
              </a:ext>
            </a:extLst>
          </p:cNvPr>
          <p:cNvSpPr/>
          <p:nvPr/>
        </p:nvSpPr>
        <p:spPr>
          <a:xfrm>
            <a:off x="764652" y="2035533"/>
            <a:ext cx="2884998" cy="970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865B1-73B0-413B-9706-CE930F270787}"/>
              </a:ext>
            </a:extLst>
          </p:cNvPr>
          <p:cNvSpPr/>
          <p:nvPr/>
        </p:nvSpPr>
        <p:spPr>
          <a:xfrm>
            <a:off x="951179" y="3899541"/>
            <a:ext cx="2534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F5ECF-194A-4D24-AF22-9E96C8847682}"/>
              </a:ext>
            </a:extLst>
          </p:cNvPr>
          <p:cNvSpPr txBox="1"/>
          <p:nvPr/>
        </p:nvSpPr>
        <p:spPr>
          <a:xfrm>
            <a:off x="5686990" y="3860761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24687-B726-41CE-8D41-9F06AD840A45}"/>
              </a:ext>
            </a:extLst>
          </p:cNvPr>
          <p:cNvSpPr txBox="1"/>
          <p:nvPr/>
        </p:nvSpPr>
        <p:spPr>
          <a:xfrm>
            <a:off x="1733206" y="2369893"/>
            <a:ext cx="134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Search Filter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B733E3-F12E-4870-8228-9AE8EDB5A0F6}"/>
              </a:ext>
            </a:extLst>
          </p:cNvPr>
          <p:cNvSpPr txBox="1"/>
          <p:nvPr/>
        </p:nvSpPr>
        <p:spPr>
          <a:xfrm>
            <a:off x="1470056" y="3452567"/>
            <a:ext cx="85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solidFill>
                  <a:schemeClr val="bg1"/>
                </a:solidFill>
              </a:rPr>
              <a:t>Results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D87DF3-2B13-4D2F-8A94-8FFB73AE8C17}"/>
              </a:ext>
            </a:extLst>
          </p:cNvPr>
          <p:cNvSpPr/>
          <p:nvPr/>
        </p:nvSpPr>
        <p:spPr>
          <a:xfrm>
            <a:off x="939833" y="5337025"/>
            <a:ext cx="2534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DB9065-1CEB-48A8-B9FD-4BFE49325480}"/>
              </a:ext>
            </a:extLst>
          </p:cNvPr>
          <p:cNvSpPr/>
          <p:nvPr/>
        </p:nvSpPr>
        <p:spPr>
          <a:xfrm>
            <a:off x="939833" y="4623598"/>
            <a:ext cx="2534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AC32F-FD66-4AC0-BA6F-5D0C71AEB42F}"/>
              </a:ext>
            </a:extLst>
          </p:cNvPr>
          <p:cNvSpPr/>
          <p:nvPr/>
        </p:nvSpPr>
        <p:spPr>
          <a:xfrm>
            <a:off x="939833" y="4946519"/>
            <a:ext cx="2534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EF17EC-BB7D-42D7-B32A-95B9FC5BF066}"/>
              </a:ext>
            </a:extLst>
          </p:cNvPr>
          <p:cNvSpPr/>
          <p:nvPr/>
        </p:nvSpPr>
        <p:spPr>
          <a:xfrm>
            <a:off x="951179" y="3244334"/>
            <a:ext cx="2534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13B50-C3B1-4A67-8726-D49B920D456F}"/>
              </a:ext>
            </a:extLst>
          </p:cNvPr>
          <p:cNvSpPr txBox="1"/>
          <p:nvPr/>
        </p:nvSpPr>
        <p:spPr>
          <a:xfrm>
            <a:off x="7145077" y="4469929"/>
            <a:ext cx="950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Markers</a:t>
            </a:r>
          </a:p>
        </p:txBody>
      </p:sp>
    </p:spTree>
    <p:extLst>
      <p:ext uri="{BB962C8B-B14F-4D97-AF65-F5344CB8AC3E}">
        <p14:creationId xmlns:p14="http://schemas.microsoft.com/office/powerpoint/2010/main" val="350009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Widescreen</PresentationFormat>
  <Paragraphs>167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16</cp:revision>
  <dcterms:created xsi:type="dcterms:W3CDTF">2025-05-02T20:21:12Z</dcterms:created>
  <dcterms:modified xsi:type="dcterms:W3CDTF">2025-05-03T07:11:08Z</dcterms:modified>
</cp:coreProperties>
</file>